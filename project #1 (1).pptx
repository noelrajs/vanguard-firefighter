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SLIDES_API145989457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SLIDES_API145989457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SLIDES_API1459894572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SLIDES_API1459894572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SLIDES_API1459894572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SLIDES_API1459894572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SLIDES_API1459894572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SLIDES_API1459894572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SLIDES_API1459894572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SLIDES_API1459894572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SLIDES_API1459894572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SLIDES_API1459894572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SLIDES_API1459894572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SLIDES_API1459894572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SLIDES_API1459894572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SLIDES_API1459894572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SLIDES_API1459894572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SLIDES_API1459894572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SLIDES_API1459894572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SLIDES_API1459894572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SLIDES_API1459894572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SLIDES_API1459894572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SLIDES_API1459894572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SLIDES_API1459894572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SLIDES_API1459894572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SLIDES_API1459894572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0"/>
            <a:ext cx="9144000" cy="355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94A3B8"/>
                </a:solidFill>
              </a:rPr>
              <a:t>FIELD BRIEF // VG-01             SLIDE 01/13             [🔴 LIVE]  [100% OFFLINE]  [MESH OK]</a:t>
            </a:r>
            <a:endParaRPr b="1" sz="800">
              <a:solidFill>
                <a:srgbClr val="94A3B8"/>
              </a:solidFill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317500" y="571500"/>
            <a:ext cx="5207100" cy="1397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F172A"/>
                </a:solidFill>
              </a:rPr>
              <a:t>VANGUARD</a:t>
            </a:r>
            <a:endParaRPr b="1" sz="2200">
              <a:solidFill>
                <a:srgbClr val="0F172A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475569"/>
                </a:solidFill>
              </a:rPr>
              <a:t>Firefighter AI Safety Helmet with Off-Grid Mesh Tracking &amp; Flashover Early Warning</a:t>
            </a:r>
            <a:endParaRPr sz="1100">
              <a:solidFill>
                <a:srgbClr val="475569"/>
              </a:solidFill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317500" y="2032000"/>
            <a:ext cx="5207100" cy="381000"/>
          </a:xfrm>
          <a:prstGeom prst="roundRect">
            <a:avLst>
              <a:gd fmla="val 16667" name="adj"/>
            </a:avLst>
          </a:prstGeom>
          <a:solidFill>
            <a:srgbClr val="FEF2F2"/>
          </a:solidFill>
          <a:ln cap="flat" cmpd="sng" w="9525">
            <a:solidFill>
              <a:srgbClr val="FF57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5722"/>
                </a:solidFill>
              </a:rPr>
              <a:t>• 100% OFFLINE EDGE INTELLIGENCE &amp; MESH TELEMETRY IN SIGNAL DEAD ZONES</a:t>
            </a:r>
            <a:endParaRPr b="1" sz="900">
              <a:solidFill>
                <a:srgbClr val="FF5722"/>
              </a:solidFill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317500" y="2540000"/>
            <a:ext cx="1650900" cy="9525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475569"/>
                </a:solidFill>
              </a:rPr>
              <a:t>LATENCY</a:t>
            </a:r>
            <a:endParaRPr b="1" sz="700">
              <a:solidFill>
                <a:srgbClr val="475569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F172A"/>
                </a:solidFill>
              </a:rPr>
              <a:t>&lt; 200 ms</a:t>
            </a:r>
            <a:endParaRPr b="1" sz="1300">
              <a:solidFill>
                <a:srgbClr val="0F172A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Local CPU Execution Target</a:t>
            </a:r>
            <a:endParaRPr/>
          </a:p>
        </p:txBody>
      </p:sp>
      <p:sp>
        <p:nvSpPr>
          <p:cNvPr id="58" name="Google Shape;58;p13"/>
          <p:cNvSpPr/>
          <p:nvPr/>
        </p:nvSpPr>
        <p:spPr>
          <a:xfrm>
            <a:off x="2095500" y="2540000"/>
            <a:ext cx="1650900" cy="9525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475569"/>
                </a:solidFill>
              </a:rPr>
              <a:t>BANDWIDTH</a:t>
            </a:r>
            <a:endParaRPr b="1" sz="700">
              <a:solidFill>
                <a:srgbClr val="475569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F172A"/>
                </a:solidFill>
              </a:rPr>
              <a:t>0 Mbps</a:t>
            </a:r>
            <a:endParaRPr b="1" sz="1300">
              <a:solidFill>
                <a:srgbClr val="0F172A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100% Air-Gapped</a:t>
            </a:r>
            <a:endParaRPr/>
          </a:p>
        </p:txBody>
      </p:sp>
      <p:sp>
        <p:nvSpPr>
          <p:cNvPr id="59" name="Google Shape;59;p13"/>
          <p:cNvSpPr/>
          <p:nvPr/>
        </p:nvSpPr>
        <p:spPr>
          <a:xfrm>
            <a:off x="3873500" y="2540000"/>
            <a:ext cx="1650900" cy="9525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475569"/>
                </a:solidFill>
              </a:rPr>
              <a:t>RF MESH</a:t>
            </a:r>
            <a:endParaRPr b="1" sz="700">
              <a:solidFill>
                <a:srgbClr val="475569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F172A"/>
                </a:solidFill>
              </a:rPr>
              <a:t>Dual-Band</a:t>
            </a:r>
            <a:endParaRPr b="1" sz="1300">
              <a:solidFill>
                <a:srgbClr val="0F172A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ESP-NOW + LoRa 433MHz</a:t>
            </a:r>
            <a:endParaRPr/>
          </a:p>
        </p:txBody>
      </p:sp>
      <p:sp>
        <p:nvSpPr>
          <p:cNvPr id="60" name="Google Shape;60;p13"/>
          <p:cNvSpPr/>
          <p:nvPr/>
        </p:nvSpPr>
        <p:spPr>
          <a:xfrm>
            <a:off x="5715000" y="571500"/>
            <a:ext cx="3111600" cy="2921100"/>
          </a:xfrm>
          <a:prstGeom prst="roundRect">
            <a:avLst>
              <a:gd fmla="val 16667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4A3B8"/>
                </a:solidFill>
              </a:rPr>
              <a:t>VG-HELMET-01        [🔴 LIVE]</a:t>
            </a:r>
            <a:endParaRPr sz="1000">
              <a:solidFill>
                <a:srgbClr val="94A3B8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94A3B8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94A3B8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94A3B8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4A3B8"/>
                </a:solidFill>
              </a:rPr>
              <a:t>     🔥 3D HELMET GRAPHIC</a:t>
            </a:r>
            <a:endParaRPr sz="1000">
              <a:solidFill>
                <a:srgbClr val="94A3B8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4A3B8"/>
                </a:solidFill>
              </a:rPr>
              <a:t>            PLACEHOLDER</a:t>
            </a:r>
            <a:endParaRPr sz="1000">
              <a:solidFill>
                <a:srgbClr val="94A3B8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94A3B8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94A3B8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94A3B8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4A3B8"/>
                </a:solidFill>
              </a:rPr>
              <a:t>((o)) MESH OK          🧠 SLM READY</a:t>
            </a:r>
            <a:endParaRPr sz="1000">
              <a:solidFill>
                <a:srgbClr val="94A3B8"/>
              </a:solidFill>
            </a:endParaRPr>
          </a:p>
        </p:txBody>
      </p:sp>
      <p:sp>
        <p:nvSpPr>
          <p:cNvPr id="61" name="Google Shape;61;p13"/>
          <p:cNvSpPr/>
          <p:nvPr/>
        </p:nvSpPr>
        <p:spPr>
          <a:xfrm>
            <a:off x="317500" y="3619500"/>
            <a:ext cx="8508900" cy="35550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F172A"/>
                </a:solidFill>
              </a:rPr>
              <a:t>TEAM : Noelraj S (Team Lead / Systems Architect) | Noel JoJo (Hardware Lead) | Sanjana S (Software Lead)   |   MILESTONES: MSME Grant (Round 3) | CMRIT Social Hackathon (Final Round) |</a:t>
            </a:r>
            <a:r>
              <a:rPr b="1" lang="en" sz="1200">
                <a:solidFill>
                  <a:srgbClr val="0F172A"/>
                </a:solidFill>
              </a:rPr>
              <a:t>AI Buildathon (Round 1) |</a:t>
            </a:r>
            <a:endParaRPr b="1" sz="1200">
              <a:solidFill>
                <a:srgbClr val="0F172A"/>
              </a:solidFill>
            </a:endParaRPr>
          </a:p>
        </p:txBody>
      </p:sp>
      <p:pic>
        <p:nvPicPr>
          <p:cNvPr id="62" name="Google Shape;62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1500" y="485725"/>
            <a:ext cx="3175100" cy="300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/>
          <p:nvPr/>
        </p:nvSpPr>
        <p:spPr>
          <a:xfrm>
            <a:off x="0" y="0"/>
            <a:ext cx="9144000" cy="355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94A3B8"/>
                </a:solidFill>
              </a:rPr>
              <a:t>FIELD BRIEF // VG-01             SLIDE 02/13             [🔴 LIVE]  [100% OFFLINE]  [MESH OK]</a:t>
            </a:r>
            <a:endParaRPr b="1" sz="800">
              <a:solidFill>
                <a:srgbClr val="94A3B8"/>
              </a:solidFill>
            </a:endParaRPr>
          </a:p>
        </p:txBody>
      </p:sp>
      <p:sp>
        <p:nvSpPr>
          <p:cNvPr id="68" name="Google Shape;68;p14"/>
          <p:cNvSpPr/>
          <p:nvPr/>
        </p:nvSpPr>
        <p:spPr>
          <a:xfrm>
            <a:off x="317500" y="482600"/>
            <a:ext cx="8508900" cy="355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F172A"/>
                </a:solidFill>
              </a:rPr>
              <a:t>THE PROBLEM: THE CLOUD BURNS. CONCRETE KILLS.</a:t>
            </a:r>
            <a:endParaRPr b="1">
              <a:solidFill>
                <a:srgbClr val="0F172A"/>
              </a:solidFill>
            </a:endParaRPr>
          </a:p>
        </p:txBody>
      </p:sp>
      <p:sp>
        <p:nvSpPr>
          <p:cNvPr id="69" name="Google Shape;69;p14"/>
          <p:cNvSpPr/>
          <p:nvPr/>
        </p:nvSpPr>
        <p:spPr>
          <a:xfrm>
            <a:off x="317500" y="812800"/>
            <a:ext cx="8508900" cy="254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rgbClr val="475569"/>
                </a:solidFill>
              </a:rPr>
              <a:t>Why Traditional Emergency Response Technology Fails Inside Structural Fires</a:t>
            </a:r>
            <a:endParaRPr i="1" sz="1000">
              <a:solidFill>
                <a:srgbClr val="475569"/>
              </a:solidFill>
            </a:endParaRPr>
          </a:p>
        </p:txBody>
      </p:sp>
      <p:sp>
        <p:nvSpPr>
          <p:cNvPr id="70" name="Google Shape;70;p14"/>
          <p:cNvSpPr/>
          <p:nvPr/>
        </p:nvSpPr>
        <p:spPr>
          <a:xfrm>
            <a:off x="317500" y="444500"/>
            <a:ext cx="8508900" cy="255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4"/>
          <p:cNvSpPr/>
          <p:nvPr/>
        </p:nvSpPr>
        <p:spPr>
          <a:xfrm>
            <a:off x="317500" y="1168400"/>
            <a:ext cx="2730600" cy="27939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4"/>
          <p:cNvSpPr/>
          <p:nvPr/>
        </p:nvSpPr>
        <p:spPr>
          <a:xfrm>
            <a:off x="317500" y="1168400"/>
            <a:ext cx="2730600" cy="63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4"/>
          <p:cNvSpPr/>
          <p:nvPr/>
        </p:nvSpPr>
        <p:spPr>
          <a:xfrm>
            <a:off x="419100" y="1295400"/>
            <a:ext cx="2514600" cy="25401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EF4444"/>
                </a:solidFill>
              </a:rPr>
              <a:t>01 // SIGNAL COLLAPSE</a:t>
            </a:r>
            <a:endParaRPr b="1" sz="800">
              <a:solidFill>
                <a:srgbClr val="EF4444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F172A"/>
                </a:solidFill>
              </a:rPr>
              <a:t>Concrete Basements Kill RF</a:t>
            </a:r>
            <a:endParaRPr b="1" sz="1200">
              <a:solidFill>
                <a:srgbClr val="0F172A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Standard Wi-Fi, 4G/5G, and satellite GPS cannot penetrate reinforced concrete or underground vaults.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88% of first responders experience complete radio blackout inside high-rises and basements.</a:t>
            </a:r>
            <a:endParaRPr/>
          </a:p>
        </p:txBody>
      </p:sp>
      <p:sp>
        <p:nvSpPr>
          <p:cNvPr id="74" name="Google Shape;74;p14"/>
          <p:cNvSpPr/>
          <p:nvPr/>
        </p:nvSpPr>
        <p:spPr>
          <a:xfrm>
            <a:off x="3213100" y="1168400"/>
            <a:ext cx="2730600" cy="27939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4"/>
          <p:cNvSpPr/>
          <p:nvPr/>
        </p:nvSpPr>
        <p:spPr>
          <a:xfrm>
            <a:off x="3213100" y="1168400"/>
            <a:ext cx="2730600" cy="63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4"/>
          <p:cNvSpPr/>
          <p:nvPr/>
        </p:nvSpPr>
        <p:spPr>
          <a:xfrm>
            <a:off x="3314700" y="1295400"/>
            <a:ext cx="2514600" cy="25401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5722"/>
                </a:solidFill>
              </a:rPr>
              <a:t>02 // ALARM FATIGUE</a:t>
            </a:r>
            <a:endParaRPr b="1" sz="800">
              <a:solidFill>
                <a:srgbClr val="FF572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F172A"/>
                </a:solidFill>
              </a:rPr>
              <a:t>Uncoordinated Sensor Noise</a:t>
            </a:r>
            <a:endParaRPr b="1" sz="1200">
              <a:solidFill>
                <a:srgbClr val="0F172A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Traditional safety gear emits multiple uncoordinated warning beeps without context.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94% of firefighters face severe alarm fatigue, causing them to ignore critical environmental alerts during shifts.</a:t>
            </a:r>
            <a:endParaRPr/>
          </a:p>
        </p:txBody>
      </p:sp>
      <p:sp>
        <p:nvSpPr>
          <p:cNvPr id="77" name="Google Shape;77;p14"/>
          <p:cNvSpPr/>
          <p:nvPr/>
        </p:nvSpPr>
        <p:spPr>
          <a:xfrm>
            <a:off x="6108700" y="1168400"/>
            <a:ext cx="2730600" cy="27939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4"/>
          <p:cNvSpPr/>
          <p:nvPr/>
        </p:nvSpPr>
        <p:spPr>
          <a:xfrm>
            <a:off x="6108700" y="1168400"/>
            <a:ext cx="2730600" cy="63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4"/>
          <p:cNvSpPr/>
          <p:nvPr/>
        </p:nvSpPr>
        <p:spPr>
          <a:xfrm>
            <a:off x="6210300" y="1295400"/>
            <a:ext cx="2514600" cy="25401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2563EB"/>
                </a:solidFill>
              </a:rPr>
              <a:t>03 // OPTICAL BLINDING</a:t>
            </a:r>
            <a:endParaRPr b="1" sz="800">
              <a:solidFill>
                <a:srgbClr val="2563EB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F172A"/>
                </a:solidFill>
              </a:rPr>
              <a:t>Smoke Disorientation</a:t>
            </a:r>
            <a:endParaRPr b="1" sz="1200">
              <a:solidFill>
                <a:srgbClr val="0F172A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Heavy smoke, soot, and particulate dust blind optical cameras and optical LiDAR systems.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81% of structural injuries stem from spatial disorientation and zero-visibility entrapment.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/>
          <p:nvPr/>
        </p:nvSpPr>
        <p:spPr>
          <a:xfrm>
            <a:off x="0" y="0"/>
            <a:ext cx="9144000" cy="355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94A3B8"/>
                </a:solidFill>
              </a:rPr>
              <a:t>FIELD BRIEF // VG-01             SLIDE 03/13             [🔴 LIVE]  [100% OFFLINE]  [MESH OK]</a:t>
            </a:r>
            <a:endParaRPr b="1" sz="800">
              <a:solidFill>
                <a:srgbClr val="94A3B8"/>
              </a:solidFill>
            </a:endParaRPr>
          </a:p>
        </p:txBody>
      </p:sp>
      <p:sp>
        <p:nvSpPr>
          <p:cNvPr id="85" name="Google Shape;85;p15"/>
          <p:cNvSpPr/>
          <p:nvPr/>
        </p:nvSpPr>
        <p:spPr>
          <a:xfrm>
            <a:off x="317500" y="482600"/>
            <a:ext cx="8508900" cy="355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F172A"/>
                </a:solidFill>
              </a:rPr>
              <a:t>FIELD SURVEY: EMERGENCY RESPONDER INSIGHTS</a:t>
            </a:r>
            <a:endParaRPr b="1">
              <a:solidFill>
                <a:srgbClr val="0F172A"/>
              </a:solidFill>
            </a:endParaRPr>
          </a:p>
        </p:txBody>
      </p:sp>
      <p:sp>
        <p:nvSpPr>
          <p:cNvPr id="86" name="Google Shape;86;p15"/>
          <p:cNvSpPr/>
          <p:nvPr/>
        </p:nvSpPr>
        <p:spPr>
          <a:xfrm>
            <a:off x="317500" y="812800"/>
            <a:ext cx="8508900" cy="254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rgbClr val="475569"/>
                </a:solidFill>
              </a:rPr>
              <a:t>Quantitative Field Realities Gathered from Firefighter Safety Audits &amp; Interviews</a:t>
            </a:r>
            <a:endParaRPr i="1" sz="1000">
              <a:solidFill>
                <a:srgbClr val="475569"/>
              </a:solidFill>
            </a:endParaRPr>
          </a:p>
        </p:txBody>
      </p:sp>
      <p:sp>
        <p:nvSpPr>
          <p:cNvPr id="87" name="Google Shape;87;p15"/>
          <p:cNvSpPr/>
          <p:nvPr/>
        </p:nvSpPr>
        <p:spPr>
          <a:xfrm>
            <a:off x="317500" y="444500"/>
            <a:ext cx="8508900" cy="255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5"/>
          <p:cNvSpPr/>
          <p:nvPr/>
        </p:nvSpPr>
        <p:spPr>
          <a:xfrm>
            <a:off x="317500" y="1168400"/>
            <a:ext cx="4140300" cy="12954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5"/>
          <p:cNvSpPr/>
          <p:nvPr/>
        </p:nvSpPr>
        <p:spPr>
          <a:xfrm>
            <a:off x="317500" y="1168400"/>
            <a:ext cx="63600" cy="1295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5"/>
          <p:cNvSpPr/>
          <p:nvPr/>
        </p:nvSpPr>
        <p:spPr>
          <a:xfrm>
            <a:off x="469900" y="1270000"/>
            <a:ext cx="3873600" cy="1117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EF4444"/>
                </a:solidFill>
              </a:rPr>
              <a:t>88%</a:t>
            </a:r>
            <a:r>
              <a:rPr b="1" lang="en" sz="900">
                <a:solidFill>
                  <a:srgbClr val="0F172A"/>
                </a:solidFill>
              </a:rPr>
              <a:t>  COMMUNICATION FAILURE</a:t>
            </a:r>
            <a:endParaRPr b="1" sz="900">
              <a:solidFill>
                <a:srgbClr val="0F172A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Reported total loss of radio/mesh signal inside reinforced concrete structures.</a:t>
            </a:r>
            <a:endParaRPr/>
          </a:p>
        </p:txBody>
      </p:sp>
      <p:sp>
        <p:nvSpPr>
          <p:cNvPr id="91" name="Google Shape;91;p15"/>
          <p:cNvSpPr/>
          <p:nvPr/>
        </p:nvSpPr>
        <p:spPr>
          <a:xfrm>
            <a:off x="4660900" y="1168400"/>
            <a:ext cx="4140300" cy="12954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5"/>
          <p:cNvSpPr/>
          <p:nvPr/>
        </p:nvSpPr>
        <p:spPr>
          <a:xfrm>
            <a:off x="4660900" y="1168400"/>
            <a:ext cx="63600" cy="12954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5"/>
          <p:cNvSpPr/>
          <p:nvPr/>
        </p:nvSpPr>
        <p:spPr>
          <a:xfrm>
            <a:off x="4813300" y="1270000"/>
            <a:ext cx="3873600" cy="1117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FF5722"/>
                </a:solidFill>
              </a:rPr>
              <a:t>94%</a:t>
            </a:r>
            <a:r>
              <a:rPr b="1" lang="en" sz="900">
                <a:solidFill>
                  <a:srgbClr val="0F172A"/>
                </a:solidFill>
              </a:rPr>
              <a:t>  ALARM FATIGUE IMPACT</a:t>
            </a:r>
            <a:endParaRPr b="1" sz="900">
              <a:solidFill>
                <a:srgbClr val="0F172A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Demanded a single unified hazard score instead of multiple scattering sensor alarms.</a:t>
            </a:r>
            <a:endParaRPr/>
          </a:p>
        </p:txBody>
      </p:sp>
      <p:sp>
        <p:nvSpPr>
          <p:cNvPr id="94" name="Google Shape;94;p15"/>
          <p:cNvSpPr/>
          <p:nvPr/>
        </p:nvSpPr>
        <p:spPr>
          <a:xfrm>
            <a:off x="317500" y="2590800"/>
            <a:ext cx="4140300" cy="12954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5"/>
          <p:cNvSpPr/>
          <p:nvPr/>
        </p:nvSpPr>
        <p:spPr>
          <a:xfrm>
            <a:off x="317500" y="2590800"/>
            <a:ext cx="63600" cy="129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5"/>
          <p:cNvSpPr/>
          <p:nvPr/>
        </p:nvSpPr>
        <p:spPr>
          <a:xfrm>
            <a:off x="469900" y="2692400"/>
            <a:ext cx="3873600" cy="1117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2563EB"/>
                </a:solidFill>
              </a:rPr>
              <a:t>81%</a:t>
            </a:r>
            <a:r>
              <a:rPr b="1" lang="en" sz="900">
                <a:solidFill>
                  <a:srgbClr val="0F172A"/>
                </a:solidFill>
              </a:rPr>
              <a:t>  SMOKE BLINDING DISORIENTATION</a:t>
            </a:r>
            <a:endParaRPr b="1" sz="900">
              <a:solidFill>
                <a:srgbClr val="0F172A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Stated optical cameras are useless in dense particulate fire environments.</a:t>
            </a:r>
            <a:endParaRPr/>
          </a:p>
        </p:txBody>
      </p:sp>
      <p:sp>
        <p:nvSpPr>
          <p:cNvPr id="97" name="Google Shape;97;p15"/>
          <p:cNvSpPr/>
          <p:nvPr/>
        </p:nvSpPr>
        <p:spPr>
          <a:xfrm>
            <a:off x="4660900" y="2590800"/>
            <a:ext cx="4140300" cy="12954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5"/>
          <p:cNvSpPr/>
          <p:nvPr/>
        </p:nvSpPr>
        <p:spPr>
          <a:xfrm>
            <a:off x="4660900" y="2590800"/>
            <a:ext cx="63600" cy="129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5"/>
          <p:cNvSpPr/>
          <p:nvPr/>
        </p:nvSpPr>
        <p:spPr>
          <a:xfrm>
            <a:off x="4813300" y="2692400"/>
            <a:ext cx="3873600" cy="1117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6366F1"/>
                </a:solidFill>
              </a:rPr>
              <a:t>90%</a:t>
            </a:r>
            <a:r>
              <a:rPr b="1" lang="en" sz="900">
                <a:solidFill>
                  <a:srgbClr val="0F172A"/>
                </a:solidFill>
              </a:rPr>
              <a:t>  AUTOMATED FALL TRACKING</a:t>
            </a:r>
            <a:endParaRPr b="1" sz="900">
              <a:solidFill>
                <a:srgbClr val="0F172A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Requested real-time unconscious worker tracking linked to Incident Command.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/>
          <p:nvPr/>
        </p:nvSpPr>
        <p:spPr>
          <a:xfrm>
            <a:off x="0" y="0"/>
            <a:ext cx="9144000" cy="355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94A3B8"/>
                </a:solidFill>
              </a:rPr>
              <a:t>FIELD BRIEF // VG-01             SLIDE 04/13             [🔴 LIVE]  [100% OFFLINE]  [MESH OK]</a:t>
            </a:r>
            <a:endParaRPr b="1" sz="800">
              <a:solidFill>
                <a:srgbClr val="94A3B8"/>
              </a:solidFill>
            </a:endParaRPr>
          </a:p>
        </p:txBody>
      </p:sp>
      <p:sp>
        <p:nvSpPr>
          <p:cNvPr id="105" name="Google Shape;105;p16"/>
          <p:cNvSpPr/>
          <p:nvPr/>
        </p:nvSpPr>
        <p:spPr>
          <a:xfrm>
            <a:off x="317500" y="482600"/>
            <a:ext cx="8508900" cy="355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F172A"/>
                </a:solidFill>
              </a:rPr>
              <a:t>THE PROPOSED SOLUTION: INTEGRATED SAFETY ECOSYSTEM</a:t>
            </a:r>
            <a:endParaRPr b="1">
              <a:solidFill>
                <a:srgbClr val="0F172A"/>
              </a:solidFill>
            </a:endParaRPr>
          </a:p>
        </p:txBody>
      </p:sp>
      <p:sp>
        <p:nvSpPr>
          <p:cNvPr id="106" name="Google Shape;106;p16"/>
          <p:cNvSpPr/>
          <p:nvPr/>
        </p:nvSpPr>
        <p:spPr>
          <a:xfrm>
            <a:off x="317500" y="812800"/>
            <a:ext cx="8508900" cy="254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rgbClr val="475569"/>
                </a:solidFill>
              </a:rPr>
              <a:t>A 3-Pillar Architecture Delivering Real-Time Local Intelligence Without Cloud Dependencies</a:t>
            </a:r>
            <a:endParaRPr i="1" sz="1000">
              <a:solidFill>
                <a:srgbClr val="475569"/>
              </a:solidFill>
            </a:endParaRPr>
          </a:p>
        </p:txBody>
      </p:sp>
      <p:sp>
        <p:nvSpPr>
          <p:cNvPr id="107" name="Google Shape;107;p16"/>
          <p:cNvSpPr/>
          <p:nvPr/>
        </p:nvSpPr>
        <p:spPr>
          <a:xfrm>
            <a:off x="317500" y="444500"/>
            <a:ext cx="8508900" cy="255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6"/>
          <p:cNvSpPr/>
          <p:nvPr/>
        </p:nvSpPr>
        <p:spPr>
          <a:xfrm>
            <a:off x="317500" y="1168400"/>
            <a:ext cx="8508900" cy="8127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6"/>
          <p:cNvSpPr/>
          <p:nvPr/>
        </p:nvSpPr>
        <p:spPr>
          <a:xfrm>
            <a:off x="317500" y="1168400"/>
            <a:ext cx="63600" cy="8127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6"/>
          <p:cNvSpPr/>
          <p:nvPr/>
        </p:nvSpPr>
        <p:spPr>
          <a:xfrm>
            <a:off x="482600" y="1219200"/>
            <a:ext cx="8191500" cy="7113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5722"/>
                </a:solidFill>
              </a:rPr>
              <a:t>PILLAR 01 — Wearable Multi-Sensor Node</a:t>
            </a:r>
            <a:endParaRPr b="1" sz="1100">
              <a:solidFill>
                <a:srgbClr val="FF572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Continuous sensing of atmospheric gas, thermal rate-of-rise, 6-axis kinetic falls, acoustic distress, and relative barometric depth.</a:t>
            </a:r>
            <a:endParaRPr/>
          </a:p>
        </p:txBody>
      </p:sp>
      <p:sp>
        <p:nvSpPr>
          <p:cNvPr id="111" name="Google Shape;111;p16"/>
          <p:cNvSpPr/>
          <p:nvPr/>
        </p:nvSpPr>
        <p:spPr>
          <a:xfrm>
            <a:off x="317500" y="2082800"/>
            <a:ext cx="8508900" cy="8127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6"/>
          <p:cNvSpPr/>
          <p:nvPr/>
        </p:nvSpPr>
        <p:spPr>
          <a:xfrm>
            <a:off x="317500" y="2082800"/>
            <a:ext cx="63600" cy="8127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6"/>
          <p:cNvSpPr/>
          <p:nvPr/>
        </p:nvSpPr>
        <p:spPr>
          <a:xfrm>
            <a:off x="482600" y="2133600"/>
            <a:ext cx="8191500" cy="7113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2563EB"/>
                </a:solidFill>
              </a:rPr>
              <a:t>PILLAR 02 — Dual-Band Mesh Network</a:t>
            </a:r>
            <a:endParaRPr b="1" sz="1100">
              <a:solidFill>
                <a:srgbClr val="2563EB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Self-healing inter-helmet radio links combining 2.4 GHz ESP-NOW local clusters and 433 MHz Sub-GHz LoRa concrete penetration.</a:t>
            </a:r>
            <a:endParaRPr/>
          </a:p>
        </p:txBody>
      </p:sp>
      <p:sp>
        <p:nvSpPr>
          <p:cNvPr id="114" name="Google Shape;114;p16"/>
          <p:cNvSpPr/>
          <p:nvPr/>
        </p:nvSpPr>
        <p:spPr>
          <a:xfrm>
            <a:off x="317500" y="2997200"/>
            <a:ext cx="8508900" cy="8127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6"/>
          <p:cNvSpPr/>
          <p:nvPr/>
        </p:nvSpPr>
        <p:spPr>
          <a:xfrm>
            <a:off x="317500" y="2997200"/>
            <a:ext cx="63600" cy="8127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6"/>
          <p:cNvSpPr/>
          <p:nvPr/>
        </p:nvSpPr>
        <p:spPr>
          <a:xfrm>
            <a:off x="482600" y="3048000"/>
            <a:ext cx="8191500" cy="7113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6366F1"/>
                </a:solidFill>
              </a:rPr>
              <a:t>PILLAR 03 — Offline Edge AI Engine</a:t>
            </a:r>
            <a:endParaRPr b="1" sz="1100">
              <a:solidFill>
                <a:srgbClr val="6366F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Compressed 4-bit quantized Llama 3.2 1B running locally on surface laptop CPUs in under 200 ms to generate tactical voice alerts.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/>
          <p:nvPr/>
        </p:nvSpPr>
        <p:spPr>
          <a:xfrm>
            <a:off x="0" y="0"/>
            <a:ext cx="9144000" cy="355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94A3B8"/>
                </a:solidFill>
              </a:rPr>
              <a:t>FIELD BRIEF // VG-01             SLIDE 05/13             [🔴 LIVE]  [100% OFFLINE]  [MESH OK]</a:t>
            </a:r>
            <a:endParaRPr b="1" sz="800">
              <a:solidFill>
                <a:srgbClr val="94A3B8"/>
              </a:solidFill>
            </a:endParaRPr>
          </a:p>
        </p:txBody>
      </p:sp>
      <p:sp>
        <p:nvSpPr>
          <p:cNvPr id="122" name="Google Shape;122;p17"/>
          <p:cNvSpPr/>
          <p:nvPr/>
        </p:nvSpPr>
        <p:spPr>
          <a:xfrm>
            <a:off x="317500" y="482600"/>
            <a:ext cx="8508900" cy="355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F172A"/>
                </a:solidFill>
              </a:rPr>
              <a:t>ARCHITECTURE: 3-ZONE OFF-GRID DATA PIPELINE</a:t>
            </a:r>
            <a:endParaRPr b="1">
              <a:solidFill>
                <a:srgbClr val="0F172A"/>
              </a:solidFill>
            </a:endParaRPr>
          </a:p>
        </p:txBody>
      </p:sp>
      <p:sp>
        <p:nvSpPr>
          <p:cNvPr id="123" name="Google Shape;123;p17"/>
          <p:cNvSpPr/>
          <p:nvPr/>
        </p:nvSpPr>
        <p:spPr>
          <a:xfrm>
            <a:off x="317500" y="812800"/>
            <a:ext cx="8508900" cy="254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rgbClr val="475569"/>
                </a:solidFill>
              </a:rPr>
              <a:t>End-to-End Hardware &amp; Software Telemetry Topology</a:t>
            </a:r>
            <a:endParaRPr i="1" sz="1000">
              <a:solidFill>
                <a:srgbClr val="475569"/>
              </a:solidFill>
            </a:endParaRPr>
          </a:p>
        </p:txBody>
      </p:sp>
      <p:sp>
        <p:nvSpPr>
          <p:cNvPr id="124" name="Google Shape;124;p17"/>
          <p:cNvSpPr/>
          <p:nvPr/>
        </p:nvSpPr>
        <p:spPr>
          <a:xfrm>
            <a:off x="317500" y="444500"/>
            <a:ext cx="8508900" cy="255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7"/>
          <p:cNvSpPr/>
          <p:nvPr/>
        </p:nvSpPr>
        <p:spPr>
          <a:xfrm>
            <a:off x="317500" y="1168400"/>
            <a:ext cx="8508900" cy="1524000"/>
          </a:xfrm>
          <a:prstGeom prst="roundRect">
            <a:avLst>
              <a:gd fmla="val 16667" name="adj"/>
            </a:avLst>
          </a:prstGeom>
          <a:solidFill>
            <a:srgbClr val="F1F5F9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475569"/>
                </a:solidFill>
              </a:rPr>
              <a:t>🖼️ SYSTEM / PROCESS FLOW DIAGRAM PLACEHOLDER</a:t>
            </a:r>
            <a:endParaRPr b="1" sz="1100">
              <a:solidFill>
                <a:srgbClr val="475569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475569"/>
                </a:solidFill>
              </a:rPr>
              <a:t>(Paste image_babcf2.png here directly inside Google Slides)</a:t>
            </a:r>
            <a:endParaRPr b="1" sz="1100">
              <a:solidFill>
                <a:srgbClr val="475569"/>
              </a:solidFill>
            </a:endParaRPr>
          </a:p>
        </p:txBody>
      </p:sp>
      <p:sp>
        <p:nvSpPr>
          <p:cNvPr id="126" name="Google Shape;126;p17"/>
          <p:cNvSpPr/>
          <p:nvPr/>
        </p:nvSpPr>
        <p:spPr>
          <a:xfrm>
            <a:off x="317500" y="2794000"/>
            <a:ext cx="2730600" cy="11685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7"/>
          <p:cNvSpPr/>
          <p:nvPr/>
        </p:nvSpPr>
        <p:spPr>
          <a:xfrm>
            <a:off x="317500" y="2794000"/>
            <a:ext cx="2730600" cy="507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7"/>
          <p:cNvSpPr/>
          <p:nvPr/>
        </p:nvSpPr>
        <p:spPr>
          <a:xfrm>
            <a:off x="406400" y="2895600"/>
            <a:ext cx="2540100" cy="10161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5722"/>
                </a:solidFill>
              </a:rPr>
              <a:t>ZONE 1: WEARABLE NODE</a:t>
            </a:r>
            <a:endParaRPr b="1" sz="800">
              <a:solidFill>
                <a:srgbClr val="FF572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ESP32 MCU + MPU6050 IMU + BMP280 Baro + MQ Gas + DHT11 + MAX9814 Mic + Ultrasonic Array.</a:t>
            </a:r>
            <a:endParaRPr/>
          </a:p>
        </p:txBody>
      </p:sp>
      <p:sp>
        <p:nvSpPr>
          <p:cNvPr id="129" name="Google Shape;129;p17"/>
          <p:cNvSpPr/>
          <p:nvPr/>
        </p:nvSpPr>
        <p:spPr>
          <a:xfrm>
            <a:off x="3213100" y="2794000"/>
            <a:ext cx="2730600" cy="11685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7"/>
          <p:cNvSpPr/>
          <p:nvPr/>
        </p:nvSpPr>
        <p:spPr>
          <a:xfrm>
            <a:off x="3213100" y="2794000"/>
            <a:ext cx="2730600" cy="507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7"/>
          <p:cNvSpPr/>
          <p:nvPr/>
        </p:nvSpPr>
        <p:spPr>
          <a:xfrm>
            <a:off x="3302000" y="2895600"/>
            <a:ext cx="2540100" cy="10161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2563EB"/>
                </a:solidFill>
              </a:rPr>
              <a:t>ZONE 2: MESH NETWORK</a:t>
            </a:r>
            <a:endParaRPr b="1" sz="800">
              <a:solidFill>
                <a:srgbClr val="2563EB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Multi-hop relay combining 2.4 GHz ESP-NOW (inter-helmet) &amp; 433 MHz Sub-GHz LoRa (concrete penetration).</a:t>
            </a:r>
            <a:endParaRPr/>
          </a:p>
        </p:txBody>
      </p:sp>
      <p:sp>
        <p:nvSpPr>
          <p:cNvPr id="132" name="Google Shape;132;p17"/>
          <p:cNvSpPr/>
          <p:nvPr/>
        </p:nvSpPr>
        <p:spPr>
          <a:xfrm>
            <a:off x="6108700" y="2794000"/>
            <a:ext cx="2730600" cy="11685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7"/>
          <p:cNvSpPr/>
          <p:nvPr/>
        </p:nvSpPr>
        <p:spPr>
          <a:xfrm>
            <a:off x="6108700" y="2794000"/>
            <a:ext cx="2730600" cy="507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7"/>
          <p:cNvSpPr/>
          <p:nvPr/>
        </p:nvSpPr>
        <p:spPr>
          <a:xfrm>
            <a:off x="6197600" y="2895600"/>
            <a:ext cx="2540100" cy="10161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366F1"/>
                </a:solidFill>
              </a:rPr>
              <a:t>ZONE 3: COMMAND GATEWAY</a:t>
            </a:r>
            <a:endParaRPr b="1" sz="800">
              <a:solidFill>
                <a:srgbClr val="6366F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ESP32-C3 Receiver → USB Serial → Surface Laptop Host with Python Gateway &amp; Offline Ollama AI Engine.</a:t>
            </a:r>
            <a:endParaRPr/>
          </a:p>
        </p:txBody>
      </p:sp>
      <p:pic>
        <p:nvPicPr>
          <p:cNvPr id="135" name="Google Shape;13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859"/>
            <a:ext cx="9144000" cy="5107781"/>
          </a:xfrm>
          <a:prstGeom prst="rect">
            <a:avLst/>
          </a:prstGeom>
          <a:solidFill>
            <a:srgbClr val="F1F5F9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8"/>
          <p:cNvSpPr/>
          <p:nvPr/>
        </p:nvSpPr>
        <p:spPr>
          <a:xfrm>
            <a:off x="0" y="0"/>
            <a:ext cx="9144000" cy="355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94A3B8"/>
                </a:solidFill>
              </a:rPr>
              <a:t>FIELD BRIEF // VG-01             SLIDE 06/13             [🔴 LIVE]  [100% OFFLINE]  [MESH OK]</a:t>
            </a:r>
            <a:endParaRPr b="1" sz="800">
              <a:solidFill>
                <a:srgbClr val="94A3B8"/>
              </a:solidFill>
            </a:endParaRPr>
          </a:p>
        </p:txBody>
      </p:sp>
      <p:sp>
        <p:nvSpPr>
          <p:cNvPr id="141" name="Google Shape;141;p18"/>
          <p:cNvSpPr/>
          <p:nvPr/>
        </p:nvSpPr>
        <p:spPr>
          <a:xfrm>
            <a:off x="317500" y="482600"/>
            <a:ext cx="8508900" cy="355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F172A"/>
                </a:solidFill>
              </a:rPr>
              <a:t>FEATURE 01: THE BRAIN — ASK HAZARD MATRIX</a:t>
            </a:r>
            <a:endParaRPr b="1">
              <a:solidFill>
                <a:srgbClr val="0F172A"/>
              </a:solidFill>
            </a:endParaRPr>
          </a:p>
        </p:txBody>
      </p:sp>
      <p:sp>
        <p:nvSpPr>
          <p:cNvPr id="142" name="Google Shape;142;p18"/>
          <p:cNvSpPr/>
          <p:nvPr/>
        </p:nvSpPr>
        <p:spPr>
          <a:xfrm>
            <a:off x="317500" y="812800"/>
            <a:ext cx="8508900" cy="254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rgbClr val="475569"/>
                </a:solidFill>
              </a:rPr>
              <a:t>Eliminating Alarm Fatigue Through Multi-Sensor Intelligence &amp; Predictive Warning</a:t>
            </a:r>
            <a:endParaRPr i="1" sz="1000">
              <a:solidFill>
                <a:srgbClr val="475569"/>
              </a:solidFill>
            </a:endParaRPr>
          </a:p>
        </p:txBody>
      </p:sp>
      <p:sp>
        <p:nvSpPr>
          <p:cNvPr id="143" name="Google Shape;143;p18"/>
          <p:cNvSpPr/>
          <p:nvPr/>
        </p:nvSpPr>
        <p:spPr>
          <a:xfrm>
            <a:off x="317500" y="444500"/>
            <a:ext cx="8508900" cy="255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8"/>
          <p:cNvSpPr/>
          <p:nvPr/>
        </p:nvSpPr>
        <p:spPr>
          <a:xfrm>
            <a:off x="317500" y="1168400"/>
            <a:ext cx="3555900" cy="27939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8"/>
          <p:cNvSpPr/>
          <p:nvPr/>
        </p:nvSpPr>
        <p:spPr>
          <a:xfrm>
            <a:off x="444500" y="1295400"/>
            <a:ext cx="3302100" cy="25401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0F172A"/>
                </a:solidFill>
              </a:rPr>
              <a:t>SYSTEM NOVELTY CORE</a:t>
            </a:r>
            <a:endParaRPr b="1" sz="1000">
              <a:solidFill>
                <a:srgbClr val="0F172A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rgbClr val="0F172A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0F172A"/>
                </a:solidFill>
              </a:rPr>
              <a:t>1. ASK Hazard Matrix: Fuses 5+ sensors into one score (0–100) to eliminate alarm fatigue.</a:t>
            </a:r>
            <a:endParaRPr b="1" sz="1000">
              <a:solidFill>
                <a:srgbClr val="0F172A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0F172A"/>
                </a:solidFill>
              </a:rPr>
              <a:t>2. Anti-Optical Navigation: Pedometer + Ultrasonic tracking that works in smoke where LiDAR fails.</a:t>
            </a:r>
            <a:endParaRPr b="1" sz="1000">
              <a:solidFill>
                <a:srgbClr val="0F172A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0F172A"/>
                </a:solidFill>
              </a:rPr>
              <a:t>3. Predictive Warning: Calculates thermal rate-of-rise (ΔT/Δt) &amp; 2–5 kHz acoustic micro-cracks before collapse.</a:t>
            </a:r>
            <a:endParaRPr b="1" sz="1000">
              <a:solidFill>
                <a:srgbClr val="0F172A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0F172A"/>
                </a:solidFill>
              </a:rPr>
              <a:t>4. Offline Edge AI: Air-gapped Llama 3.2 1B running locally on CPU in &lt;200ms with zero cloud dependency.</a:t>
            </a:r>
            <a:endParaRPr b="1" sz="1000">
              <a:solidFill>
                <a:srgbClr val="0F172A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0F172A"/>
                </a:solidFill>
              </a:rPr>
              <a:t>5. Forensic Blackbox: Cryptographic SHA-256 local hashing for tamper-evident post-incident audits.</a:t>
            </a:r>
            <a:endParaRPr b="1" sz="1000">
              <a:solidFill>
                <a:srgbClr val="0F172A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0F172A"/>
                </a:solidFill>
              </a:rPr>
              <a:t>6. Affordable Integration: Full industrial safety capability in a ₹7k unit vs ₹10L  systems.</a:t>
            </a:r>
            <a:endParaRPr b="1" sz="1000">
              <a:solidFill>
                <a:srgbClr val="0F172A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0F172A"/>
              </a:solidFill>
            </a:endParaRPr>
          </a:p>
        </p:txBody>
      </p:sp>
      <p:sp>
        <p:nvSpPr>
          <p:cNvPr id="146" name="Google Shape;146;p18"/>
          <p:cNvSpPr/>
          <p:nvPr/>
        </p:nvSpPr>
        <p:spPr>
          <a:xfrm>
            <a:off x="4064000" y="1168400"/>
            <a:ext cx="4762500" cy="8382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8"/>
          <p:cNvSpPr/>
          <p:nvPr/>
        </p:nvSpPr>
        <p:spPr>
          <a:xfrm>
            <a:off x="4064000" y="1168400"/>
            <a:ext cx="63600" cy="8382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8"/>
          <p:cNvSpPr/>
          <p:nvPr/>
        </p:nvSpPr>
        <p:spPr>
          <a:xfrm>
            <a:off x="4216400" y="1244600"/>
            <a:ext cx="4508400" cy="685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5722"/>
                </a:solidFill>
              </a:rPr>
              <a:t>01. SINGLE HAZARD SCORE (0-100)</a:t>
            </a:r>
            <a:endParaRPr b="1" sz="1000">
              <a:solidFill>
                <a:srgbClr val="FF572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Fuses 5+ sensor channels into one weighted risk index.</a:t>
            </a:r>
            <a:endParaRPr/>
          </a:p>
        </p:txBody>
      </p:sp>
      <p:sp>
        <p:nvSpPr>
          <p:cNvPr id="149" name="Google Shape;149;p18"/>
          <p:cNvSpPr/>
          <p:nvPr/>
        </p:nvSpPr>
        <p:spPr>
          <a:xfrm>
            <a:off x="4064000" y="2108200"/>
            <a:ext cx="4762500" cy="8382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8"/>
          <p:cNvSpPr/>
          <p:nvPr/>
        </p:nvSpPr>
        <p:spPr>
          <a:xfrm>
            <a:off x="4064000" y="2108200"/>
            <a:ext cx="63600" cy="838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8"/>
          <p:cNvSpPr/>
          <p:nvPr/>
        </p:nvSpPr>
        <p:spPr>
          <a:xfrm>
            <a:off x="4216400" y="2184400"/>
            <a:ext cx="4508400" cy="685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EF4444"/>
                </a:solidFill>
              </a:rPr>
              <a:t>02. PREDICTIVE FLASHOVER EARLY WARNING</a:t>
            </a:r>
            <a:endParaRPr b="1" sz="1000">
              <a:solidFill>
                <a:srgbClr val="EF4444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Calculates thermal rate-of-rise (ΔT/Δt) to predict room flashovers 10–15s before ignition.</a:t>
            </a:r>
            <a:endParaRPr/>
          </a:p>
        </p:txBody>
      </p:sp>
      <p:sp>
        <p:nvSpPr>
          <p:cNvPr id="152" name="Google Shape;152;p18"/>
          <p:cNvSpPr/>
          <p:nvPr/>
        </p:nvSpPr>
        <p:spPr>
          <a:xfrm>
            <a:off x="4064000" y="3048000"/>
            <a:ext cx="4762500" cy="8382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8"/>
          <p:cNvSpPr/>
          <p:nvPr/>
        </p:nvSpPr>
        <p:spPr>
          <a:xfrm>
            <a:off x="4064000" y="3048000"/>
            <a:ext cx="63600" cy="838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8"/>
          <p:cNvSpPr/>
          <p:nvPr/>
        </p:nvSpPr>
        <p:spPr>
          <a:xfrm>
            <a:off x="4216400" y="3124200"/>
            <a:ext cx="4508400" cy="685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2563EB"/>
                </a:solidFill>
              </a:rPr>
              <a:t>03. ACOUSTIC PRE-COLLAPSE SENSING</a:t>
            </a:r>
            <a:endParaRPr b="1" sz="1000">
              <a:solidFill>
                <a:srgbClr val="2563EB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Filters 2–5 kHz frequencies on MAX9814 mic to detect concrete aggregate cracking before structural failure.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9"/>
          <p:cNvSpPr/>
          <p:nvPr/>
        </p:nvSpPr>
        <p:spPr>
          <a:xfrm>
            <a:off x="0" y="0"/>
            <a:ext cx="9144000" cy="355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94A3B8"/>
                </a:solidFill>
              </a:rPr>
              <a:t>FIELD BRIEF // VG-01             SLIDE 07/13             [🔴 LIVE]  [100% OFFLINE]  [MESH OK]</a:t>
            </a:r>
            <a:endParaRPr b="1" sz="800">
              <a:solidFill>
                <a:srgbClr val="94A3B8"/>
              </a:solidFill>
            </a:endParaRPr>
          </a:p>
        </p:txBody>
      </p:sp>
      <p:sp>
        <p:nvSpPr>
          <p:cNvPr id="160" name="Google Shape;160;p19"/>
          <p:cNvSpPr/>
          <p:nvPr/>
        </p:nvSpPr>
        <p:spPr>
          <a:xfrm>
            <a:off x="317500" y="482600"/>
            <a:ext cx="8508900" cy="355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F172A"/>
                </a:solidFill>
              </a:rPr>
              <a:t>FEATURE 02: NAVIGATION — ANTI-OPTICAL SPATIAL TRACKING</a:t>
            </a:r>
            <a:endParaRPr b="1">
              <a:solidFill>
                <a:srgbClr val="0F172A"/>
              </a:solidFill>
            </a:endParaRPr>
          </a:p>
        </p:txBody>
      </p:sp>
      <p:sp>
        <p:nvSpPr>
          <p:cNvPr id="161" name="Google Shape;161;p19"/>
          <p:cNvSpPr/>
          <p:nvPr/>
        </p:nvSpPr>
        <p:spPr>
          <a:xfrm>
            <a:off x="317500" y="812800"/>
            <a:ext cx="8508900" cy="254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rgbClr val="475569"/>
                </a:solidFill>
              </a:rPr>
              <a:t>Indoor Trajectory Dead-Reckoning Operating Without GPS or Cameras</a:t>
            </a:r>
            <a:endParaRPr i="1" sz="1000">
              <a:solidFill>
                <a:srgbClr val="475569"/>
              </a:solidFill>
            </a:endParaRPr>
          </a:p>
        </p:txBody>
      </p:sp>
      <p:sp>
        <p:nvSpPr>
          <p:cNvPr id="162" name="Google Shape;162;p19"/>
          <p:cNvSpPr/>
          <p:nvPr/>
        </p:nvSpPr>
        <p:spPr>
          <a:xfrm>
            <a:off x="317500" y="444500"/>
            <a:ext cx="8508900" cy="255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9"/>
          <p:cNvSpPr/>
          <p:nvPr/>
        </p:nvSpPr>
        <p:spPr>
          <a:xfrm>
            <a:off x="317500" y="1168400"/>
            <a:ext cx="2730600" cy="27939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9"/>
          <p:cNvSpPr/>
          <p:nvPr/>
        </p:nvSpPr>
        <p:spPr>
          <a:xfrm>
            <a:off x="317500" y="1168400"/>
            <a:ext cx="2730600" cy="63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9"/>
          <p:cNvSpPr/>
          <p:nvPr/>
        </p:nvSpPr>
        <p:spPr>
          <a:xfrm>
            <a:off x="419100" y="1295400"/>
            <a:ext cx="2514600" cy="25401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5722"/>
                </a:solidFill>
              </a:rPr>
              <a:t>IMU DEAD-RECKONING</a:t>
            </a:r>
            <a:endParaRPr b="1" sz="800">
              <a:solidFill>
                <a:srgbClr val="FF572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F172A"/>
                </a:solidFill>
              </a:rPr>
              <a:t>Pedestrian Step Tracking</a:t>
            </a:r>
            <a:endParaRPr b="1" sz="1200">
              <a:solidFill>
                <a:srgbClr val="0F172A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MPU6050 6-Axis IMU registers step counts and cardinal heading turns to trace indoor worker movement without GPS.</a:t>
            </a:r>
            <a:endParaRPr/>
          </a:p>
        </p:txBody>
      </p:sp>
      <p:sp>
        <p:nvSpPr>
          <p:cNvPr id="166" name="Google Shape;166;p19"/>
          <p:cNvSpPr/>
          <p:nvPr/>
        </p:nvSpPr>
        <p:spPr>
          <a:xfrm>
            <a:off x="3213100" y="1168400"/>
            <a:ext cx="2730600" cy="27939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9"/>
          <p:cNvSpPr/>
          <p:nvPr/>
        </p:nvSpPr>
        <p:spPr>
          <a:xfrm>
            <a:off x="3213100" y="1168400"/>
            <a:ext cx="2730600" cy="63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9"/>
          <p:cNvSpPr/>
          <p:nvPr/>
        </p:nvSpPr>
        <p:spPr>
          <a:xfrm>
            <a:off x="3314700" y="1295400"/>
            <a:ext cx="2514600" cy="25401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2563EB"/>
                </a:solidFill>
              </a:rPr>
              <a:t>SONAR PROXIMITY</a:t>
            </a:r>
            <a:endParaRPr b="1" sz="800">
              <a:solidFill>
                <a:srgbClr val="2563EB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F172A"/>
                </a:solidFill>
              </a:rPr>
              <a:t>Ultrasonic Wall Trajectory</a:t>
            </a:r>
            <a:endParaRPr b="1" sz="1200">
              <a:solidFill>
                <a:srgbClr val="0F172A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Ultrasonic sound waves pass cleanly through dense smoke (where optical LiDAR and cameras scatter) to measure lateral wall clearance.</a:t>
            </a:r>
            <a:endParaRPr/>
          </a:p>
        </p:txBody>
      </p:sp>
      <p:sp>
        <p:nvSpPr>
          <p:cNvPr id="169" name="Google Shape;169;p19"/>
          <p:cNvSpPr/>
          <p:nvPr/>
        </p:nvSpPr>
        <p:spPr>
          <a:xfrm>
            <a:off x="6108700" y="1168400"/>
            <a:ext cx="2730600" cy="27939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9"/>
          <p:cNvSpPr/>
          <p:nvPr/>
        </p:nvSpPr>
        <p:spPr>
          <a:xfrm>
            <a:off x="6108700" y="1168400"/>
            <a:ext cx="2730600" cy="636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9"/>
          <p:cNvSpPr/>
          <p:nvPr/>
        </p:nvSpPr>
        <p:spPr>
          <a:xfrm>
            <a:off x="6210300" y="1295400"/>
            <a:ext cx="2514600" cy="25401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366F1"/>
                </a:solidFill>
              </a:rPr>
              <a:t>BAROMETRIC DEPTH</a:t>
            </a:r>
            <a:endParaRPr b="1" sz="800">
              <a:solidFill>
                <a:srgbClr val="6366F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F172A"/>
                </a:solidFill>
              </a:rPr>
              <a:t>Vertical Floor Delta (ΔZ)</a:t>
            </a:r>
            <a:endParaRPr b="1" sz="1200">
              <a:solidFill>
                <a:srgbClr val="0F172A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BMP280 pressure sensor tracks vertical stairwell movement and floor level shifts with ±0.5m precision.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/>
          <p:nvPr/>
        </p:nvSpPr>
        <p:spPr>
          <a:xfrm>
            <a:off x="0" y="0"/>
            <a:ext cx="9144000" cy="355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94A3B8"/>
                </a:solidFill>
              </a:rPr>
              <a:t>FIELD BRIEF // VG-01             SLIDE 08/13             [🔴 LIVE]  [100% OFFLINE]  [MESH OK]</a:t>
            </a:r>
            <a:endParaRPr b="1" sz="800">
              <a:solidFill>
                <a:srgbClr val="94A3B8"/>
              </a:solidFill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317500" y="482600"/>
            <a:ext cx="8508900" cy="355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F172A"/>
                </a:solidFill>
              </a:rPr>
              <a:t>HARDWARE: COMPLETE MULTI-HAZARD SENSOR ARRAY</a:t>
            </a:r>
            <a:endParaRPr b="1">
              <a:solidFill>
                <a:srgbClr val="0F172A"/>
              </a:solidFill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317500" y="812800"/>
            <a:ext cx="8508900" cy="254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rgbClr val="475569"/>
                </a:solidFill>
              </a:rPr>
              <a:t>Sensing Array Distributed Across Helmet Nodes</a:t>
            </a:r>
            <a:endParaRPr i="1" sz="1000">
              <a:solidFill>
                <a:srgbClr val="475569"/>
              </a:solidFill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317500" y="444500"/>
            <a:ext cx="8508900" cy="255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0"/>
          <p:cNvSpPr/>
          <p:nvPr/>
        </p:nvSpPr>
        <p:spPr>
          <a:xfrm>
            <a:off x="317500" y="1168400"/>
            <a:ext cx="2730600" cy="12954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0"/>
          <p:cNvSpPr/>
          <p:nvPr/>
        </p:nvSpPr>
        <p:spPr>
          <a:xfrm>
            <a:off x="317500" y="1168400"/>
            <a:ext cx="2730600" cy="507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0"/>
          <p:cNvSpPr/>
          <p:nvPr/>
        </p:nvSpPr>
        <p:spPr>
          <a:xfrm>
            <a:off x="419100" y="1295400"/>
            <a:ext cx="2514600" cy="1117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5722"/>
                </a:solidFill>
              </a:rPr>
              <a:t>1. Kinetic Fall &amp; Impact</a:t>
            </a:r>
            <a:endParaRPr b="1" sz="900">
              <a:solidFill>
                <a:srgbClr val="FF572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MPU6050 6-axis G-force tracking for fall/unconsciousness alerts.</a:t>
            </a:r>
            <a:endParaRPr/>
          </a:p>
        </p:txBody>
      </p:sp>
      <p:sp>
        <p:nvSpPr>
          <p:cNvPr id="183" name="Google Shape;183;p20"/>
          <p:cNvSpPr/>
          <p:nvPr/>
        </p:nvSpPr>
        <p:spPr>
          <a:xfrm>
            <a:off x="3213100" y="1168400"/>
            <a:ext cx="2730600" cy="12954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0"/>
          <p:cNvSpPr/>
          <p:nvPr/>
        </p:nvSpPr>
        <p:spPr>
          <a:xfrm>
            <a:off x="3213100" y="1168400"/>
            <a:ext cx="2730600" cy="507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0"/>
          <p:cNvSpPr/>
          <p:nvPr/>
        </p:nvSpPr>
        <p:spPr>
          <a:xfrm>
            <a:off x="3314700" y="1295400"/>
            <a:ext cx="2514600" cy="1117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EF4444"/>
                </a:solidFill>
              </a:rPr>
              <a:t>2. Toxic Multi-Gas</a:t>
            </a:r>
            <a:endParaRPr b="1" sz="900">
              <a:solidFill>
                <a:srgbClr val="EF4444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MQ-2/MQ-9 monitoring CH4 Methane, CO, and dense smoke.</a:t>
            </a:r>
            <a:endParaRPr/>
          </a:p>
        </p:txBody>
      </p:sp>
      <p:sp>
        <p:nvSpPr>
          <p:cNvPr id="186" name="Google Shape;186;p20"/>
          <p:cNvSpPr/>
          <p:nvPr/>
        </p:nvSpPr>
        <p:spPr>
          <a:xfrm>
            <a:off x="6108700" y="1168400"/>
            <a:ext cx="2730600" cy="12954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0"/>
          <p:cNvSpPr/>
          <p:nvPr/>
        </p:nvSpPr>
        <p:spPr>
          <a:xfrm>
            <a:off x="6108700" y="1168400"/>
            <a:ext cx="2730600" cy="507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0"/>
          <p:cNvSpPr/>
          <p:nvPr/>
        </p:nvSpPr>
        <p:spPr>
          <a:xfrm>
            <a:off x="6210300" y="1295400"/>
            <a:ext cx="2514600" cy="1117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2563EB"/>
                </a:solidFill>
              </a:rPr>
              <a:t>3. Barometric Altitude (ΔZ)</a:t>
            </a:r>
            <a:endParaRPr b="1" sz="900">
              <a:solidFill>
                <a:srgbClr val="2563EB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BMP280 tracking multi-story floor level shifts.</a:t>
            </a:r>
            <a:endParaRPr/>
          </a:p>
        </p:txBody>
      </p:sp>
      <p:sp>
        <p:nvSpPr>
          <p:cNvPr id="189" name="Google Shape;189;p20"/>
          <p:cNvSpPr/>
          <p:nvPr/>
        </p:nvSpPr>
        <p:spPr>
          <a:xfrm>
            <a:off x="317500" y="2590800"/>
            <a:ext cx="2730600" cy="12954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0"/>
          <p:cNvSpPr/>
          <p:nvPr/>
        </p:nvSpPr>
        <p:spPr>
          <a:xfrm>
            <a:off x="317500" y="2590800"/>
            <a:ext cx="2730600" cy="507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0"/>
          <p:cNvSpPr/>
          <p:nvPr/>
        </p:nvSpPr>
        <p:spPr>
          <a:xfrm>
            <a:off x="419100" y="2717800"/>
            <a:ext cx="2514600" cy="1117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5722"/>
                </a:solidFill>
              </a:rPr>
              <a:t>4. Thermal Rate-of-Rise</a:t>
            </a:r>
            <a:endParaRPr b="1" sz="900">
              <a:solidFill>
                <a:srgbClr val="FF572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DHT11/BMP280 heat velocity vector derivatives.</a:t>
            </a:r>
            <a:endParaRPr/>
          </a:p>
        </p:txBody>
      </p:sp>
      <p:sp>
        <p:nvSpPr>
          <p:cNvPr id="192" name="Google Shape;192;p20"/>
          <p:cNvSpPr/>
          <p:nvPr/>
        </p:nvSpPr>
        <p:spPr>
          <a:xfrm>
            <a:off x="3213100" y="2590800"/>
            <a:ext cx="2730600" cy="12954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0"/>
          <p:cNvSpPr/>
          <p:nvPr/>
        </p:nvSpPr>
        <p:spPr>
          <a:xfrm>
            <a:off x="3213100" y="2590800"/>
            <a:ext cx="2730600" cy="507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0"/>
          <p:cNvSpPr/>
          <p:nvPr/>
        </p:nvSpPr>
        <p:spPr>
          <a:xfrm>
            <a:off x="3314700" y="2717800"/>
            <a:ext cx="2514600" cy="1117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2563EB"/>
                </a:solidFill>
              </a:rPr>
              <a:t>5. Void/Drop-off Proximity</a:t>
            </a:r>
            <a:endParaRPr b="1" sz="900">
              <a:solidFill>
                <a:srgbClr val="2563EB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Ultrasonics detecting open floor drop-offs &amp; missing stairs.</a:t>
            </a:r>
            <a:endParaRPr/>
          </a:p>
        </p:txBody>
      </p:sp>
      <p:sp>
        <p:nvSpPr>
          <p:cNvPr id="195" name="Google Shape;195;p20"/>
          <p:cNvSpPr/>
          <p:nvPr/>
        </p:nvSpPr>
        <p:spPr>
          <a:xfrm>
            <a:off x="6108700" y="2590800"/>
            <a:ext cx="2730600" cy="12954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0"/>
          <p:cNvSpPr/>
          <p:nvPr/>
        </p:nvSpPr>
        <p:spPr>
          <a:xfrm>
            <a:off x="6108700" y="2590800"/>
            <a:ext cx="2730600" cy="507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0"/>
          <p:cNvSpPr/>
          <p:nvPr/>
        </p:nvSpPr>
        <p:spPr>
          <a:xfrm>
            <a:off x="6210300" y="2717800"/>
            <a:ext cx="2514600" cy="1117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6366F1"/>
                </a:solidFill>
              </a:rPr>
              <a:t>6. Acoustic Distress Mic</a:t>
            </a:r>
            <a:endParaRPr b="1" sz="900">
              <a:solidFill>
                <a:srgbClr val="6366F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MAX9814 mic capturing civilian screams through smoke.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1"/>
          <p:cNvSpPr/>
          <p:nvPr/>
        </p:nvSpPr>
        <p:spPr>
          <a:xfrm>
            <a:off x="0" y="0"/>
            <a:ext cx="9144000" cy="355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94A3B8"/>
                </a:solidFill>
              </a:rPr>
              <a:t>FIELD BRIEF // VG-01             SLIDE 09/13             [🔴 LIVE]  [100% OFFLINE]  [MESH OK]</a:t>
            </a:r>
            <a:endParaRPr b="1" sz="800">
              <a:solidFill>
                <a:srgbClr val="94A3B8"/>
              </a:solidFill>
            </a:endParaRPr>
          </a:p>
        </p:txBody>
      </p:sp>
      <p:sp>
        <p:nvSpPr>
          <p:cNvPr id="203" name="Google Shape;203;p21"/>
          <p:cNvSpPr/>
          <p:nvPr/>
        </p:nvSpPr>
        <p:spPr>
          <a:xfrm>
            <a:off x="317500" y="482600"/>
            <a:ext cx="8508900" cy="355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F172A"/>
                </a:solidFill>
              </a:rPr>
              <a:t>FEATURE 03: COMMUNICATION — DUAL-BAND MESH</a:t>
            </a:r>
            <a:endParaRPr b="1">
              <a:solidFill>
                <a:srgbClr val="0F172A"/>
              </a:solidFill>
            </a:endParaRPr>
          </a:p>
        </p:txBody>
      </p:sp>
      <p:sp>
        <p:nvSpPr>
          <p:cNvPr id="204" name="Google Shape;204;p21"/>
          <p:cNvSpPr/>
          <p:nvPr/>
        </p:nvSpPr>
        <p:spPr>
          <a:xfrm>
            <a:off x="317500" y="812800"/>
            <a:ext cx="8508900" cy="254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rgbClr val="475569"/>
                </a:solidFill>
              </a:rPr>
              <a:t>Self-Healing Decentralized Radio Links Routing Data Around Concrete Barriers</a:t>
            </a:r>
            <a:endParaRPr i="1" sz="1000">
              <a:solidFill>
                <a:srgbClr val="475569"/>
              </a:solidFill>
            </a:endParaRPr>
          </a:p>
        </p:txBody>
      </p:sp>
      <p:sp>
        <p:nvSpPr>
          <p:cNvPr id="205" name="Google Shape;205;p21"/>
          <p:cNvSpPr/>
          <p:nvPr/>
        </p:nvSpPr>
        <p:spPr>
          <a:xfrm>
            <a:off x="317500" y="444500"/>
            <a:ext cx="8508900" cy="255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1"/>
          <p:cNvSpPr/>
          <p:nvPr/>
        </p:nvSpPr>
        <p:spPr>
          <a:xfrm>
            <a:off x="317500" y="1168400"/>
            <a:ext cx="3555900" cy="27939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1"/>
          <p:cNvSpPr/>
          <p:nvPr/>
        </p:nvSpPr>
        <p:spPr>
          <a:xfrm>
            <a:off x="444500" y="1295400"/>
            <a:ext cx="3302100" cy="25401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F172A"/>
                </a:solidFill>
              </a:rPr>
              <a:t>Dual-Band Radio Strategy:</a:t>
            </a:r>
            <a:endParaRPr sz="1000">
              <a:solidFill>
                <a:srgbClr val="0F172A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F172A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F172A"/>
                </a:solidFill>
              </a:rPr>
              <a:t>• ESP-NOW (2.4 GHz): Ultra-low latency, connectionless peer-to-peer link for local inter-helmet clusters.</a:t>
            </a:r>
            <a:endParaRPr sz="1000">
              <a:solidFill>
                <a:srgbClr val="0F172A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F172A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F172A"/>
                </a:solidFill>
              </a:rPr>
              <a:t>• Sub-GHz LoRa (433 MHz): Low-frequency radio waves engineered to punch through thick concrete walls and earth.</a:t>
            </a:r>
            <a:endParaRPr sz="1000">
              <a:solidFill>
                <a:srgbClr val="0F172A"/>
              </a:solidFill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4064000" y="1168400"/>
            <a:ext cx="4762500" cy="8382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1"/>
          <p:cNvSpPr/>
          <p:nvPr/>
        </p:nvSpPr>
        <p:spPr>
          <a:xfrm>
            <a:off x="4064000" y="1168400"/>
            <a:ext cx="63600" cy="838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1"/>
          <p:cNvSpPr/>
          <p:nvPr/>
        </p:nvSpPr>
        <p:spPr>
          <a:xfrm>
            <a:off x="4216400" y="1244600"/>
            <a:ext cx="4508400" cy="685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2563EB"/>
                </a:solidFill>
              </a:rPr>
              <a:t>DECENTRALIZED ROUTING</a:t>
            </a:r>
            <a:endParaRPr b="1" sz="1000">
              <a:solidFill>
                <a:srgbClr val="2563EB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Every firefighter acts as an active wireless relay node.</a:t>
            </a:r>
            <a:endParaRPr/>
          </a:p>
        </p:txBody>
      </p:sp>
      <p:sp>
        <p:nvSpPr>
          <p:cNvPr id="211" name="Google Shape;211;p21"/>
          <p:cNvSpPr/>
          <p:nvPr/>
        </p:nvSpPr>
        <p:spPr>
          <a:xfrm>
            <a:off x="4064000" y="2108200"/>
            <a:ext cx="4762500" cy="8382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1"/>
          <p:cNvSpPr/>
          <p:nvPr/>
        </p:nvSpPr>
        <p:spPr>
          <a:xfrm>
            <a:off x="4064000" y="2108200"/>
            <a:ext cx="63600" cy="8382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1"/>
          <p:cNvSpPr/>
          <p:nvPr/>
        </p:nvSpPr>
        <p:spPr>
          <a:xfrm>
            <a:off x="4216400" y="2184400"/>
            <a:ext cx="4508400" cy="685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5722"/>
                </a:solidFill>
              </a:rPr>
              <a:t>SELF-HEALING TOPOLOGY</a:t>
            </a:r>
            <a:endParaRPr b="1" sz="1000">
              <a:solidFill>
                <a:srgbClr val="FF572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Node 2 drops, network auto-reroutes packets instantly.</a:t>
            </a:r>
            <a:endParaRPr/>
          </a:p>
        </p:txBody>
      </p:sp>
      <p:sp>
        <p:nvSpPr>
          <p:cNvPr id="214" name="Google Shape;214;p21"/>
          <p:cNvSpPr/>
          <p:nvPr/>
        </p:nvSpPr>
        <p:spPr>
          <a:xfrm>
            <a:off x="4064000" y="3048000"/>
            <a:ext cx="4762500" cy="8382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1"/>
          <p:cNvSpPr/>
          <p:nvPr/>
        </p:nvSpPr>
        <p:spPr>
          <a:xfrm>
            <a:off x="4064000" y="3048000"/>
            <a:ext cx="63600" cy="838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1"/>
          <p:cNvSpPr/>
          <p:nvPr/>
        </p:nvSpPr>
        <p:spPr>
          <a:xfrm>
            <a:off x="4216400" y="3124200"/>
            <a:ext cx="4508400" cy="685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6366F1"/>
                </a:solidFill>
              </a:rPr>
              <a:t>ZERO INFRASTRUCTURE</a:t>
            </a:r>
            <a:endParaRPr b="1" sz="1000">
              <a:solidFill>
                <a:srgbClr val="6366F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100% independent of cell towers, routers, or internet.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2"/>
          <p:cNvSpPr/>
          <p:nvPr/>
        </p:nvSpPr>
        <p:spPr>
          <a:xfrm>
            <a:off x="0" y="0"/>
            <a:ext cx="9144000" cy="355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94A3B8"/>
                </a:solidFill>
              </a:rPr>
              <a:t>FIELD BRIEF // VG-01             SLIDE 10/13             [🔴 LIVE]  [100% OFFLINE]  [MESH OK]</a:t>
            </a:r>
            <a:endParaRPr b="1" sz="800">
              <a:solidFill>
                <a:srgbClr val="94A3B8"/>
              </a:solidFill>
            </a:endParaRPr>
          </a:p>
        </p:txBody>
      </p:sp>
      <p:sp>
        <p:nvSpPr>
          <p:cNvPr id="222" name="Google Shape;222;p22"/>
          <p:cNvSpPr/>
          <p:nvPr/>
        </p:nvSpPr>
        <p:spPr>
          <a:xfrm>
            <a:off x="317500" y="482600"/>
            <a:ext cx="8508900" cy="355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F172A"/>
                </a:solidFill>
              </a:rPr>
              <a:t>HARDWARE DEPLOYMENT &amp; THERMAL SHIELDING</a:t>
            </a:r>
            <a:endParaRPr b="1">
              <a:solidFill>
                <a:srgbClr val="0F172A"/>
              </a:solidFill>
            </a:endParaRPr>
          </a:p>
        </p:txBody>
      </p:sp>
      <p:sp>
        <p:nvSpPr>
          <p:cNvPr id="223" name="Google Shape;223;p22"/>
          <p:cNvSpPr/>
          <p:nvPr/>
        </p:nvSpPr>
        <p:spPr>
          <a:xfrm>
            <a:off x="317500" y="812800"/>
            <a:ext cx="8508900" cy="254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rgbClr val="475569"/>
                </a:solidFill>
              </a:rPr>
              <a:t>Physical Node Allocation &amp; Ruggedized Reliability Engineering</a:t>
            </a:r>
            <a:endParaRPr i="1" sz="1000">
              <a:solidFill>
                <a:srgbClr val="475569"/>
              </a:solidFill>
            </a:endParaRPr>
          </a:p>
        </p:txBody>
      </p:sp>
      <p:sp>
        <p:nvSpPr>
          <p:cNvPr id="224" name="Google Shape;224;p22"/>
          <p:cNvSpPr/>
          <p:nvPr/>
        </p:nvSpPr>
        <p:spPr>
          <a:xfrm>
            <a:off x="317500" y="444500"/>
            <a:ext cx="8508900" cy="255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2"/>
          <p:cNvSpPr/>
          <p:nvPr/>
        </p:nvSpPr>
        <p:spPr>
          <a:xfrm>
            <a:off x="317500" y="1168400"/>
            <a:ext cx="4140300" cy="27939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2"/>
          <p:cNvSpPr/>
          <p:nvPr/>
        </p:nvSpPr>
        <p:spPr>
          <a:xfrm>
            <a:off x="317500" y="1168400"/>
            <a:ext cx="4140300" cy="63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2"/>
          <p:cNvSpPr/>
          <p:nvPr/>
        </p:nvSpPr>
        <p:spPr>
          <a:xfrm>
            <a:off x="469900" y="1320800"/>
            <a:ext cx="3835500" cy="2514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5722"/>
                </a:solidFill>
              </a:rPr>
              <a:t>HELMET NODE ALLOCATION</a:t>
            </a:r>
            <a:endParaRPr b="1" sz="1100">
              <a:solidFill>
                <a:srgbClr val="FF572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Primary Lead Helmet: Arduino Nano ESP32 + MPU6050 + BMP280 + DHT11 + MAX9814 + 3x Ultrasonics + SX1278 LoRa.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Secondary Relay Helmet: ESP32 + MQ Gas + MPU6050 + 0.96" OLED HUD + LiFePO4 battery with TP4056 + SX1278 LoRa.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Surface Base Station: ESP32-C3 Gateway connected over USB Serial to Laptop.</a:t>
            </a:r>
            <a:endParaRPr/>
          </a:p>
        </p:txBody>
      </p:sp>
      <p:sp>
        <p:nvSpPr>
          <p:cNvPr id="228" name="Google Shape;228;p22"/>
          <p:cNvSpPr/>
          <p:nvPr/>
        </p:nvSpPr>
        <p:spPr>
          <a:xfrm>
            <a:off x="4660900" y="1168400"/>
            <a:ext cx="4140300" cy="27939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2"/>
          <p:cNvSpPr/>
          <p:nvPr/>
        </p:nvSpPr>
        <p:spPr>
          <a:xfrm>
            <a:off x="4660900" y="1168400"/>
            <a:ext cx="4140300" cy="63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2"/>
          <p:cNvSpPr/>
          <p:nvPr/>
        </p:nvSpPr>
        <p:spPr>
          <a:xfrm>
            <a:off x="4813300" y="1320800"/>
            <a:ext cx="3835500" cy="2514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2563EB"/>
                </a:solidFill>
              </a:rPr>
              <a:t>PROTECTIVE SHIELDING &amp; ACCESSORIES</a:t>
            </a:r>
            <a:endParaRPr b="1" sz="1100">
              <a:solidFill>
                <a:srgbClr val="2563EB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Radiant Heat Shielding: Electronics housed in ABS wrapped in aluminum HVAC tape &amp; RTV silicone (315°C / 600°F rated).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Tactical Audio &amp; Haptic Interface: Zero-latency voice alerts &amp; vibration direction pulses.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Safety Fail-safes: Physical harness Mayday button + Smart Chock door wedge relay nodes.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3"/>
          <p:cNvSpPr/>
          <p:nvPr/>
        </p:nvSpPr>
        <p:spPr>
          <a:xfrm>
            <a:off x="0" y="0"/>
            <a:ext cx="9144000" cy="355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94A3B8"/>
                </a:solidFill>
              </a:rPr>
              <a:t>FIELD BRIEF // VG-01             SLIDE 11/13             [🔴 LIVE]  [100% OFFLINE]  [MESH OK]</a:t>
            </a:r>
            <a:endParaRPr b="1" sz="800">
              <a:solidFill>
                <a:srgbClr val="94A3B8"/>
              </a:solidFill>
            </a:endParaRPr>
          </a:p>
        </p:txBody>
      </p:sp>
      <p:sp>
        <p:nvSpPr>
          <p:cNvPr id="236" name="Google Shape;236;p23"/>
          <p:cNvSpPr/>
          <p:nvPr/>
        </p:nvSpPr>
        <p:spPr>
          <a:xfrm>
            <a:off x="317500" y="482600"/>
            <a:ext cx="8508900" cy="355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F172A"/>
                </a:solidFill>
              </a:rPr>
              <a:t>SOFTWARE: MLOPS PIPELINE &amp; DISTILLATION WORKFLOW</a:t>
            </a:r>
            <a:endParaRPr b="1">
              <a:solidFill>
                <a:srgbClr val="0F172A"/>
              </a:solidFill>
            </a:endParaRPr>
          </a:p>
        </p:txBody>
      </p:sp>
      <p:sp>
        <p:nvSpPr>
          <p:cNvPr id="237" name="Google Shape;237;p23"/>
          <p:cNvSpPr/>
          <p:nvPr/>
        </p:nvSpPr>
        <p:spPr>
          <a:xfrm>
            <a:off x="317500" y="812800"/>
            <a:ext cx="8508900" cy="254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rgbClr val="475569"/>
                </a:solidFill>
              </a:rPr>
              <a:t>Open-Source Model Compression Lifecycle for Edge Deployment</a:t>
            </a:r>
            <a:endParaRPr i="1" sz="1000">
              <a:solidFill>
                <a:srgbClr val="475569"/>
              </a:solidFill>
            </a:endParaRPr>
          </a:p>
        </p:txBody>
      </p:sp>
      <p:sp>
        <p:nvSpPr>
          <p:cNvPr id="238" name="Google Shape;238;p23"/>
          <p:cNvSpPr/>
          <p:nvPr/>
        </p:nvSpPr>
        <p:spPr>
          <a:xfrm>
            <a:off x="317500" y="444500"/>
            <a:ext cx="8508900" cy="255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3"/>
          <p:cNvSpPr/>
          <p:nvPr/>
        </p:nvSpPr>
        <p:spPr>
          <a:xfrm>
            <a:off x="317500" y="1168400"/>
            <a:ext cx="2031900" cy="27939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3"/>
          <p:cNvSpPr/>
          <p:nvPr/>
        </p:nvSpPr>
        <p:spPr>
          <a:xfrm>
            <a:off x="317500" y="1168400"/>
            <a:ext cx="2031900" cy="63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3"/>
          <p:cNvSpPr/>
          <p:nvPr/>
        </p:nvSpPr>
        <p:spPr>
          <a:xfrm>
            <a:off x="393700" y="1295400"/>
            <a:ext cx="1879500" cy="25401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5722"/>
                </a:solidFill>
              </a:rPr>
              <a:t>STEP 01</a:t>
            </a:r>
            <a:endParaRPr b="1" sz="800">
              <a:solidFill>
                <a:srgbClr val="FF572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F172A"/>
                </a:solidFill>
              </a:rPr>
              <a:t>Teacher Distillation</a:t>
            </a:r>
            <a:endParaRPr b="1" sz="1100">
              <a:solidFill>
                <a:srgbClr val="0F172A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Passing 500 telemetry rows to Llama 3.3 70B via NVIDIA NIM API for ≤8-word labels.</a:t>
            </a:r>
            <a:endParaRPr/>
          </a:p>
        </p:txBody>
      </p:sp>
      <p:sp>
        <p:nvSpPr>
          <p:cNvPr id="242" name="Google Shape;242;p23"/>
          <p:cNvSpPr/>
          <p:nvPr/>
        </p:nvSpPr>
        <p:spPr>
          <a:xfrm>
            <a:off x="2451100" y="1168400"/>
            <a:ext cx="2031900" cy="27939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3"/>
          <p:cNvSpPr/>
          <p:nvPr/>
        </p:nvSpPr>
        <p:spPr>
          <a:xfrm>
            <a:off x="2451100" y="1168400"/>
            <a:ext cx="2031900" cy="63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3"/>
          <p:cNvSpPr/>
          <p:nvPr/>
        </p:nvSpPr>
        <p:spPr>
          <a:xfrm>
            <a:off x="2527300" y="1295400"/>
            <a:ext cx="1879500" cy="25401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2563EB"/>
                </a:solidFill>
              </a:rPr>
              <a:t>STEP 02</a:t>
            </a:r>
            <a:endParaRPr b="1" sz="800">
              <a:solidFill>
                <a:srgbClr val="2563EB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F172A"/>
                </a:solidFill>
              </a:rPr>
              <a:t>Dataset Audit Filter</a:t>
            </a:r>
            <a:endParaRPr b="1" sz="1100">
              <a:solidFill>
                <a:srgbClr val="0F172A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Scrubbing training_data.json to purge hallucinations, long essays, and broken tokens.</a:t>
            </a:r>
            <a:endParaRPr/>
          </a:p>
        </p:txBody>
      </p:sp>
      <p:sp>
        <p:nvSpPr>
          <p:cNvPr id="245" name="Google Shape;245;p23"/>
          <p:cNvSpPr/>
          <p:nvPr/>
        </p:nvSpPr>
        <p:spPr>
          <a:xfrm>
            <a:off x="4584700" y="1168400"/>
            <a:ext cx="2031900" cy="27939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3"/>
          <p:cNvSpPr/>
          <p:nvPr/>
        </p:nvSpPr>
        <p:spPr>
          <a:xfrm>
            <a:off x="4584700" y="1168400"/>
            <a:ext cx="2031900" cy="636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3"/>
          <p:cNvSpPr/>
          <p:nvPr/>
        </p:nvSpPr>
        <p:spPr>
          <a:xfrm>
            <a:off x="4660900" y="1295400"/>
            <a:ext cx="1879500" cy="25401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366F1"/>
                </a:solidFill>
              </a:rPr>
              <a:t>STEP 03</a:t>
            </a:r>
            <a:endParaRPr b="1" sz="800">
              <a:solidFill>
                <a:srgbClr val="6366F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F172A"/>
                </a:solidFill>
              </a:rPr>
              <a:t>QLoRA Fine-Tuning</a:t>
            </a:r>
            <a:endParaRPr b="1" sz="1100">
              <a:solidFill>
                <a:srgbClr val="0F172A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Fine-tuning Meta Llama 3.2 1B on Colab (Unsloth 4-bit, r=16, alpha=16).</a:t>
            </a:r>
            <a:endParaRPr/>
          </a:p>
        </p:txBody>
      </p:sp>
      <p:sp>
        <p:nvSpPr>
          <p:cNvPr id="248" name="Google Shape;248;p23"/>
          <p:cNvSpPr/>
          <p:nvPr/>
        </p:nvSpPr>
        <p:spPr>
          <a:xfrm>
            <a:off x="6718300" y="1168400"/>
            <a:ext cx="2031900" cy="27939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3"/>
          <p:cNvSpPr/>
          <p:nvPr/>
        </p:nvSpPr>
        <p:spPr>
          <a:xfrm>
            <a:off x="6718300" y="1168400"/>
            <a:ext cx="2031900" cy="63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3"/>
          <p:cNvSpPr/>
          <p:nvPr/>
        </p:nvSpPr>
        <p:spPr>
          <a:xfrm>
            <a:off x="6794500" y="1295400"/>
            <a:ext cx="1879500" cy="25401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EF4444"/>
                </a:solidFill>
              </a:rPr>
              <a:t>STEP 04</a:t>
            </a:r>
            <a:endParaRPr b="1" sz="800">
              <a:solidFill>
                <a:srgbClr val="EF4444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F172A"/>
                </a:solidFill>
              </a:rPr>
              <a:t>GGUF Quantization</a:t>
            </a:r>
            <a:endParaRPr b="1" sz="1100">
              <a:solidFill>
                <a:srgbClr val="0F172A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Exporting Q4_K_M GGUF (~700 MB) for local CPU serving via Ollama.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4"/>
          <p:cNvSpPr/>
          <p:nvPr/>
        </p:nvSpPr>
        <p:spPr>
          <a:xfrm>
            <a:off x="0" y="0"/>
            <a:ext cx="9144000" cy="355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94A3B8"/>
                </a:solidFill>
              </a:rPr>
              <a:t>FIELD BRIEF // VG-01             SLIDE 12/13             [🔴 LIVE]  [100% OFFLINE]  [MESH OK]</a:t>
            </a:r>
            <a:endParaRPr b="1" sz="800">
              <a:solidFill>
                <a:srgbClr val="94A3B8"/>
              </a:solidFill>
            </a:endParaRPr>
          </a:p>
        </p:txBody>
      </p:sp>
      <p:sp>
        <p:nvSpPr>
          <p:cNvPr id="256" name="Google Shape;256;p24"/>
          <p:cNvSpPr/>
          <p:nvPr/>
        </p:nvSpPr>
        <p:spPr>
          <a:xfrm>
            <a:off x="317500" y="482600"/>
            <a:ext cx="8508900" cy="355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F172A"/>
                </a:solidFill>
              </a:rPr>
              <a:t>SOFTWARE: CURRENT IMPLEMENTATION &amp; GATEWAY ENGINE</a:t>
            </a:r>
            <a:endParaRPr b="1">
              <a:solidFill>
                <a:srgbClr val="0F172A"/>
              </a:solidFill>
            </a:endParaRPr>
          </a:p>
        </p:txBody>
      </p:sp>
      <p:sp>
        <p:nvSpPr>
          <p:cNvPr id="257" name="Google Shape;257;p24"/>
          <p:cNvSpPr/>
          <p:nvPr/>
        </p:nvSpPr>
        <p:spPr>
          <a:xfrm>
            <a:off x="317500" y="812800"/>
            <a:ext cx="8508900" cy="254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rgbClr val="475569"/>
                </a:solidFill>
              </a:rPr>
              <a:t>Data Preparation, Feature Extraction &amp; Serial Gateway Pipeline</a:t>
            </a:r>
            <a:endParaRPr i="1" sz="1000">
              <a:solidFill>
                <a:srgbClr val="475569"/>
              </a:solidFill>
            </a:endParaRPr>
          </a:p>
        </p:txBody>
      </p:sp>
      <p:sp>
        <p:nvSpPr>
          <p:cNvPr id="258" name="Google Shape;258;p24"/>
          <p:cNvSpPr/>
          <p:nvPr/>
        </p:nvSpPr>
        <p:spPr>
          <a:xfrm>
            <a:off x="317500" y="444500"/>
            <a:ext cx="8508900" cy="255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4"/>
          <p:cNvSpPr/>
          <p:nvPr/>
        </p:nvSpPr>
        <p:spPr>
          <a:xfrm>
            <a:off x="317500" y="1168400"/>
            <a:ext cx="4140300" cy="27939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4"/>
          <p:cNvSpPr/>
          <p:nvPr/>
        </p:nvSpPr>
        <p:spPr>
          <a:xfrm>
            <a:off x="317500" y="1168400"/>
            <a:ext cx="4140300" cy="63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4"/>
          <p:cNvSpPr/>
          <p:nvPr/>
        </p:nvSpPr>
        <p:spPr>
          <a:xfrm>
            <a:off x="469900" y="1320800"/>
            <a:ext cx="3835500" cy="2514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5722"/>
                </a:solidFill>
              </a:rPr>
              <a:t>DATA PREPARATION &amp; DISTILLATION IN PROGRESS</a:t>
            </a:r>
            <a:endParaRPr b="1" sz="1100">
              <a:solidFill>
                <a:srgbClr val="FF572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Ingested Public Fire &amp; Gas Datasets: Loading Kaggle Smoke Detection &amp; NIST Room Flashover calorimetry logs into pandas.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Feature Engineering (ΔT/Δt): Computing thermal rate-of-rise derivatives across time-series rows and injecting synthetic fall/impact spikes (3G–8G).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Active Teacher Distillation: Prompting Llama 3.3 70B via NVIDIA NIM to generate ultra-short (≤ 8 words) tactical safety commands.</a:t>
            </a:r>
            <a:endParaRPr/>
          </a:p>
        </p:txBody>
      </p:sp>
      <p:sp>
        <p:nvSpPr>
          <p:cNvPr id="262" name="Google Shape;262;p24"/>
          <p:cNvSpPr/>
          <p:nvPr/>
        </p:nvSpPr>
        <p:spPr>
          <a:xfrm>
            <a:off x="4572000" y="1409700"/>
            <a:ext cx="4140300" cy="27939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4"/>
          <p:cNvSpPr/>
          <p:nvPr/>
        </p:nvSpPr>
        <p:spPr>
          <a:xfrm>
            <a:off x="4660900" y="1168400"/>
            <a:ext cx="4140300" cy="636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4"/>
          <p:cNvSpPr/>
          <p:nvPr/>
        </p:nvSpPr>
        <p:spPr>
          <a:xfrm>
            <a:off x="4813300" y="1320800"/>
            <a:ext cx="3835500" cy="2514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6366F1"/>
                </a:solidFill>
              </a:rPr>
              <a:t>OFFLINE GATEWAY &amp; BLACKBOX PIPELINE</a:t>
            </a:r>
            <a:endParaRPr b="1" sz="1100">
              <a:solidFill>
                <a:srgbClr val="6366F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USB Serial Listener (pyserial): Real-time binding to laptop COM port to ingest raw telemetry packets coming from ESP32 mesh base station.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Local CPU AI Serving: Asynchronous routing of telemetry to local Ollama API (Llama 3.2 1B GGUF) for sub-200ms voice alert generation.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SHA-256 Cryptographic Blackbox: Local line-by-line hashing on MicroSD cards for post-incident forensic audits.</a:t>
            </a:r>
            <a:endParaRPr/>
          </a:p>
        </p:txBody>
      </p:sp>
      <p:pic>
        <p:nvPicPr>
          <p:cNvPr id="265" name="Google Shape;26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4002" cy="5103629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5"/>
          <p:cNvSpPr/>
          <p:nvPr/>
        </p:nvSpPr>
        <p:spPr>
          <a:xfrm>
            <a:off x="0" y="0"/>
            <a:ext cx="9144000" cy="355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94A3B8"/>
                </a:solidFill>
              </a:rPr>
              <a:t>FIELD BRIEF // VG-01             SLIDE 13/13             [🔴 LIVE]  [100% OFFLINE]  [MESH OK]</a:t>
            </a:r>
            <a:endParaRPr b="1" sz="800">
              <a:solidFill>
                <a:srgbClr val="94A3B8"/>
              </a:solidFill>
            </a:endParaRPr>
          </a:p>
        </p:txBody>
      </p:sp>
      <p:sp>
        <p:nvSpPr>
          <p:cNvPr id="271" name="Google Shape;271;p25"/>
          <p:cNvSpPr/>
          <p:nvPr/>
        </p:nvSpPr>
        <p:spPr>
          <a:xfrm>
            <a:off x="317500" y="482600"/>
            <a:ext cx="8508900" cy="355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F172A"/>
                </a:solidFill>
              </a:rPr>
              <a:t>ROADMAP: INTELLECTUAL PROPERTY &amp; EXPANSION</a:t>
            </a:r>
            <a:endParaRPr b="1">
              <a:solidFill>
                <a:srgbClr val="0F172A"/>
              </a:solidFill>
            </a:endParaRPr>
          </a:p>
        </p:txBody>
      </p:sp>
      <p:sp>
        <p:nvSpPr>
          <p:cNvPr id="272" name="Google Shape;272;p25"/>
          <p:cNvSpPr/>
          <p:nvPr/>
        </p:nvSpPr>
        <p:spPr>
          <a:xfrm>
            <a:off x="317500" y="812800"/>
            <a:ext cx="8508900" cy="254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rgbClr val="475569"/>
                </a:solidFill>
              </a:rPr>
              <a:t>Patenting Strategy &amp; Commercialization Milestones</a:t>
            </a:r>
            <a:endParaRPr i="1" sz="1000">
              <a:solidFill>
                <a:srgbClr val="475569"/>
              </a:solidFill>
            </a:endParaRPr>
          </a:p>
        </p:txBody>
      </p:sp>
      <p:sp>
        <p:nvSpPr>
          <p:cNvPr id="273" name="Google Shape;273;p25"/>
          <p:cNvSpPr/>
          <p:nvPr/>
        </p:nvSpPr>
        <p:spPr>
          <a:xfrm>
            <a:off x="317500" y="444500"/>
            <a:ext cx="8508900" cy="255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5"/>
          <p:cNvSpPr/>
          <p:nvPr/>
        </p:nvSpPr>
        <p:spPr>
          <a:xfrm>
            <a:off x="317500" y="1168400"/>
            <a:ext cx="4140300" cy="27939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5"/>
          <p:cNvSpPr/>
          <p:nvPr/>
        </p:nvSpPr>
        <p:spPr>
          <a:xfrm>
            <a:off x="317500" y="1168400"/>
            <a:ext cx="4140300" cy="63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5"/>
          <p:cNvSpPr/>
          <p:nvPr/>
        </p:nvSpPr>
        <p:spPr>
          <a:xfrm>
            <a:off x="469900" y="1320800"/>
            <a:ext cx="3835500" cy="2514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5722"/>
                </a:solidFill>
              </a:rPr>
              <a:t>PATENTABLE CLAIMS</a:t>
            </a:r>
            <a:endParaRPr b="1" sz="1100">
              <a:solidFill>
                <a:srgbClr val="FF572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Dual-Band Hybrid Mesh Switching Logic: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Seamless dynamic routing between 2.4 GHz ESP-NOW local clusters and 433 MHz Sub-GHz LoRa long-haul links.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Sensor-Telemetry-to-LLM Prompt Pipeline: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Context-weighted multi-sensor normalization for real-time local quantized LLM inference.</a:t>
            </a:r>
            <a:endParaRPr/>
          </a:p>
        </p:txBody>
      </p:sp>
      <p:sp>
        <p:nvSpPr>
          <p:cNvPr id="277" name="Google Shape;277;p25"/>
          <p:cNvSpPr/>
          <p:nvPr/>
        </p:nvSpPr>
        <p:spPr>
          <a:xfrm>
            <a:off x="4660900" y="1168400"/>
            <a:ext cx="4140300" cy="27939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5"/>
          <p:cNvSpPr/>
          <p:nvPr/>
        </p:nvSpPr>
        <p:spPr>
          <a:xfrm>
            <a:off x="4660900" y="1168400"/>
            <a:ext cx="4140300" cy="63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5"/>
          <p:cNvSpPr/>
          <p:nvPr/>
        </p:nvSpPr>
        <p:spPr>
          <a:xfrm>
            <a:off x="4813300" y="1320800"/>
            <a:ext cx="3835500" cy="2514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2563EB"/>
                </a:solidFill>
              </a:rPr>
              <a:t>ECOSYSTEM MILESTONES &amp; PHASES</a:t>
            </a:r>
            <a:endParaRPr b="1" sz="1100">
              <a:solidFill>
                <a:srgbClr val="2563EB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Phase 1 (Active): MSME Grant (Round 2 Qualified) | AI Buildathon (Round 1 Ongoing) | CMRIT Social (Finals).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Phase 2: IP67 Field Sealing &amp; Live Burn Facility Testing.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Phase 3: Field Pilot Deployments with Emergency Response Services &amp; Industrial Safety Partners.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