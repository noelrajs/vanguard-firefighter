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45989457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45989457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45989457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45989457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S_API145989457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S_API145989457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145989457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145989457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S_API145989457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S_API145989457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145989457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145989457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S_API145989457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S_API145989457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S_API145989457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S_API145989457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SLIDES_API145989457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SLIDES_API145989457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LIDES_API145989457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LIDES_API145989457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SLIDES_API145989457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SLIDES_API145989457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SLIDES_API145989457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SLIDES_API145989457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SLIDES_API145989457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SLIDES_API145989457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01/13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17500" y="571500"/>
            <a:ext cx="52071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</a:rPr>
              <a:t>VANGUARD</a:t>
            </a:r>
            <a:endParaRPr b="1" sz="2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</a:rPr>
              <a:t>Firefighter AI Safety Helmet with Off-Grid Mesh Tracking &amp; Flashover Early Warning</a:t>
            </a:r>
            <a:endParaRPr sz="1100">
              <a:solidFill>
                <a:srgbClr val="475569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17500" y="2032000"/>
            <a:ext cx="5207100" cy="3810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• 100% OFFLINE EDGE INTELLIGENCE &amp; MESH TELEMETRY IN SIGNAL DEAD ZONES</a:t>
            </a:r>
            <a:endParaRPr b="1" sz="900">
              <a:solidFill>
                <a:srgbClr val="FF5722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17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LATENCY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&lt; 200 ms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CPU Execution Target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095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BANDWIDTH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0 Mbps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Air-Gapped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873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RF MESH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Dual-Band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ESP-NOW + LoRa 433MHz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715000" y="571500"/>
            <a:ext cx="3111600" cy="29211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VG-HELMET-01        [🔴 LIVE]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     🔥 3D HELMET GRAPHIC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            PLACEHOLDER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((o)) MESH OK          🧠 SLM READY</a:t>
            </a:r>
            <a:endParaRPr sz="1000">
              <a:solidFill>
                <a:srgbClr val="94A3B8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17500" y="3619500"/>
            <a:ext cx="8508900" cy="3555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TEAM ROSTER: Noelraj S (Team Lead / Systems Architect) | Noel JoJo (Hardware Lead) | Sanjana S (Software Lead)   |   MILESTONES: MSME Grant (Round 3) | CMRIT Social Hackathon (Final Round) |</a:t>
            </a:r>
            <a:r>
              <a:rPr b="1" lang="en" sz="1200">
                <a:solidFill>
                  <a:srgbClr val="0F172A"/>
                </a:solidFill>
              </a:rPr>
              <a:t>AI Buildathon (Round 1) |</a:t>
            </a:r>
            <a:endParaRPr b="1" sz="12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02/13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THE PROBLEM: THE CLOUD BURNS. CONCRETE KILLS.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Why Traditional Emergency Response Technology Fails Inside Structural Fires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175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317500" y="1168400"/>
            <a:ext cx="2730600" cy="63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191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F4444"/>
                </a:solidFill>
              </a:rPr>
              <a:t>01 // SIGNAL COLLAPSE</a:t>
            </a:r>
            <a:endParaRPr b="1" sz="8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Concrete Basements Kill RF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Wi-Fi, 4G/5G, and satellite GPS cannot penetrate reinforced concrete or underground vaults.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88% of first responders experience complete radio blackout inside high-rises and basements.</a:t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32131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3213100" y="1168400"/>
            <a:ext cx="27306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33147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02 // ALARM FATIGUE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Uncoordinated Sensor Noise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safety gear emits multiple uncoordinated warning beeps without context.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94% of firefighters face severe alarm fatigue, causing them to ignore critical environmental alerts during shifts.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1087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6108700" y="1168400"/>
            <a:ext cx="27306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2103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03 // OPTICAL BLINDING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Smoke Disorientation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Heavy smoke, soot, and particulate dust blind optical cameras and optical LiDAR systems.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81% of structural injuries stem from spatial disorientation and zero-visibility entrapment.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03/13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FIELD SURVEY: EMERGENCY RESPONDER INSIGHTS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Quantitative Field Realities Gathered from Firefighter Safety Audits &amp; Interviews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17500" y="11684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317500" y="1168400"/>
            <a:ext cx="63600" cy="129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69900" y="12700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F4444"/>
                </a:solidFill>
              </a:rPr>
              <a:t>88%</a:t>
            </a:r>
            <a:r>
              <a:rPr b="1" lang="en" sz="900">
                <a:solidFill>
                  <a:srgbClr val="0F172A"/>
                </a:solidFill>
              </a:rPr>
              <a:t>  COMMUNICATION FAILURE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Reported total loss of radio/mesh signal inside reinforced concrete structures.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660900" y="11684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660900" y="1168400"/>
            <a:ext cx="63600" cy="1295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813300" y="12700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5722"/>
                </a:solidFill>
              </a:rPr>
              <a:t>94%</a:t>
            </a:r>
            <a:r>
              <a:rPr b="1" lang="en" sz="900">
                <a:solidFill>
                  <a:srgbClr val="0F172A"/>
                </a:solidFill>
              </a:rPr>
              <a:t>  ALARM FATIGUE IMPACT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Demanded a single unified hazard score instead of multiple scattering sensor alarms.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317500" y="25908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17500" y="2590800"/>
            <a:ext cx="63600" cy="129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469900" y="26924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563EB"/>
                </a:solidFill>
              </a:rPr>
              <a:t>81%</a:t>
            </a:r>
            <a:r>
              <a:rPr b="1" lang="en" sz="900">
                <a:solidFill>
                  <a:srgbClr val="0F172A"/>
                </a:solidFill>
              </a:rPr>
              <a:t>  SMOKE BLINDING DISORIENTATION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Stated optical cameras are useless in dense particulate fire environments.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660900" y="25908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660900" y="2590800"/>
            <a:ext cx="63600" cy="129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813300" y="26924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366F1"/>
                </a:solidFill>
              </a:rPr>
              <a:t>90%</a:t>
            </a:r>
            <a:r>
              <a:rPr b="1" lang="en" sz="900">
                <a:solidFill>
                  <a:srgbClr val="0F172A"/>
                </a:solidFill>
              </a:rPr>
              <a:t>  AUTOMATED FALL TRACKING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Requested real-time unconscious worker tracking linked to Incident Command.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04/13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THE PROPOSED SOLUTION: INTEGRATED SAFETY ECOSYSTEM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A 3-Pillar Architecture Delivering Real-Time Local Intelligence Without Cloud Dependencies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17500" y="11684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17500" y="1168400"/>
            <a:ext cx="63600" cy="812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82600" y="12192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PILLAR 01 — Wearable Multi-Sensor Node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sensing of atmospheric gas, thermal rate-of-rise, 6-axis kinetic falls, acoustic distress, and relative barometric depth.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17500" y="20828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17500" y="2082800"/>
            <a:ext cx="63600" cy="8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82600" y="21336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PILLAR 02 — Dual-Band Mesh Network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Self-healing inter-helmet radio links combining 2.4 GHz ESP-NOW local clusters and 433 MHz Sub-GHz LoRa concrete penetration.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317500" y="29972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17500" y="2997200"/>
            <a:ext cx="63600" cy="8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82600" y="30480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366F1"/>
                </a:solidFill>
              </a:rPr>
              <a:t>PILLAR 03 — Offline Edge AI Engine</a:t>
            </a:r>
            <a:endParaRPr b="1" sz="11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Compressed 4-bit quantized Llama 3.2 1B running locally on surface laptop CPUs in under 200 ms to generate tactical voice alerts.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05/13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ARCHITECTURE: 3-ZONE OFF-GRID DATA PIPELINE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End-to-End Hardware &amp; Software Telemetry Topology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317500" y="1168400"/>
            <a:ext cx="8508900" cy="15240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75569"/>
                </a:solidFill>
              </a:rPr>
              <a:t>🖼️ SYSTEM / PROCESS FLOW DIAGRAM PLACEHOLDER</a:t>
            </a:r>
            <a:endParaRPr b="1" sz="11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75569"/>
                </a:solidFill>
              </a:rPr>
              <a:t>(Paste image_babcf2.png here directly inside Google Slides)</a:t>
            </a:r>
            <a:endParaRPr b="1" sz="1100">
              <a:solidFill>
                <a:srgbClr val="475569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175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17500" y="27940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064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ZONE 1: WEARABLE NODE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 MCU + MPU6050 IMU + BMP280 Baro + MQ Gas + DHT11 + MAX9814 Mic + Ultrasonic Array.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32131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213100" y="27940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3020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ZONE 2: MESH NETWORK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Multi-hop relay combining 2.4 GHz ESP-NOW (inter-helmet) &amp; 433 MHz Sub-GHz LoRa (concrete penetration).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1087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108700" y="2794000"/>
            <a:ext cx="2730600" cy="50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1976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ZONE 3: COMMAND GATEWAY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ESP32-C3 Receiver → USB Serial → Surface Laptop Host with Python Gateway &amp; Offline Ollama AI Engine.</a:t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06/13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01: THE BRAIN — ASK HAZARD MATRIX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Eliminating Alarm Fatigue Through Multi-Sensor Intelligence &amp; Predictive Warning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17500" y="1168400"/>
            <a:ext cx="3555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444500" y="1295400"/>
            <a:ext cx="33021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SYSTEM NOVELTY CORE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1. ASK Hazard Matrix: Fuses 5+ sensors into one score (0–100) to eliminate alarm fatigue.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2. Anti-Optical Navigation: Pedometer + Ultrasonic tracking that works in smoke where LiDAR fails.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3. Predictive Warning: Calculates thermal rate-of-rise (ΔT/Δt) &amp; 2–5 kHz acoustic micro-cracks before collapse.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4. Offline Edge AI: Air-gapped Llama 3.2 1B running locally on CPU in &lt;200ms with zero cloud dependency.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5. Forensic Blackbox: Cryptographic SHA-256 local hashing for tamper-evident post-incident audits.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6. Affordable Integration: Full industrial safety capability in a ₹7k unit vs ₹10L  systems.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064000" y="11684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064000" y="1168400"/>
            <a:ext cx="63600" cy="838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216400" y="12446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5722"/>
                </a:solidFill>
              </a:rPr>
              <a:t>01. SINGLE HAZARD SCORE (0-100)</a:t>
            </a:r>
            <a:endParaRPr b="1" sz="10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Fuses 5+ sensor channels into one weighted risk index.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064000" y="21082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064000" y="2108200"/>
            <a:ext cx="63600" cy="838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216400" y="21844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4444"/>
                </a:solidFill>
              </a:rPr>
              <a:t>02. PREDICTIVE FLASHOVER EARLY WARNING</a:t>
            </a:r>
            <a:endParaRPr b="1" sz="10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Calculates thermal rate-of-rise (ΔT/Δt) to predict room flashovers 10–15s before ignition.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064000" y="30480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4064000" y="3048000"/>
            <a:ext cx="63600" cy="838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216400" y="31242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</a:rPr>
              <a:t>03. ACOUSTIC PRE-COLLAPSE SENSING</a:t>
            </a:r>
            <a:endParaRPr b="1" sz="10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Filters 2–5 kHz frequencies on MAX9814 mic to detect concrete aggregate cracking before structural failure.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07/13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02: NAVIGATION — ANTI-OPTICAL SPATIAL TRACKING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Indoor Trajectory Dead-Reckoning Operating Without GPS or Cameras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3175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317500" y="1168400"/>
            <a:ext cx="27306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4191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IMU DEAD-RECKONING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Pedestrian Step Tracking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MPU6050 6-Axis IMU registers step counts and cardinal heading turns to trace indoor worker movement without GPS.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32131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213100" y="1168400"/>
            <a:ext cx="27306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3147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SONAR PROXIMITY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Ultrasonic Wall Trajectory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sound waves pass cleanly through dense smoke (where optical LiDAR and cameras scatter) to measure lateral wall clearance.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1087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108700" y="1168400"/>
            <a:ext cx="27306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2103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BAROMETRIC DEPTH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Vertical Floor Delta (ΔZ)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BMP280 pressure sensor tracks vertical stairwell movement and floor level shifts with ±0.5m precision.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08/13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HARDWARE: COMPLETE MULTI-HAZARD SENSOR ARRAY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Sensing Array Distributed Across Helmet Nodes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175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317500" y="11684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4191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1. Kinetic Fall &amp; Impact</a:t>
            </a:r>
            <a:endParaRPr b="1" sz="9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MPU6050 6-axis G-force tracking for fall/unconsciousness alerts.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32131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213100" y="1168400"/>
            <a:ext cx="2730600" cy="50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3147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F4444"/>
                </a:solidFill>
              </a:rPr>
              <a:t>2. Toxic Multi-Gas</a:t>
            </a:r>
            <a:endParaRPr b="1" sz="9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MQ-2/MQ-9 monitoring CH4 Methane, CO, and dense smoke.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61087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108700" y="11684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2103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3. Barometric Altitude (ΔZ)</a:t>
            </a:r>
            <a:endParaRPr b="1" sz="9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BMP280 tracking multi-story floor level shifts.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3175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317500" y="25908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4191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4. Thermal Rate-of-Rise</a:t>
            </a:r>
            <a:endParaRPr b="1" sz="9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DHT11/BMP280 heat velocity vector derivatives.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2131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213100" y="25908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33147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5. Void/Drop-off Proximity</a:t>
            </a:r>
            <a:endParaRPr b="1" sz="9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Ultrasonics detecting open floor drop-offs &amp; missing stairs.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61087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108700" y="2590800"/>
            <a:ext cx="2730600" cy="50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2103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366F1"/>
                </a:solidFill>
              </a:rPr>
              <a:t>6. Acoustic Distress Mic</a:t>
            </a:r>
            <a:endParaRPr b="1" sz="9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MAX9814 mic capturing civilian screams through smoke.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09/13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03: COMMUNICATION — DUAL-BAND MESH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Self-Healing Decentralized Radio Links Routing Data Around Concrete Barriers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317500" y="1168400"/>
            <a:ext cx="3555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444500" y="1295400"/>
            <a:ext cx="33021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Dual-Band Radio Strategy:</a:t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• ESP-NOW (2.4 GHz): Ultra-low latency, connectionless peer-to-peer link for local inter-helmet clusters.</a:t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• Sub-GHz LoRa (433 MHz): Low-frequency radio waves engineered to punch through thick concrete walls and earth.</a:t>
            </a:r>
            <a:endParaRPr sz="1000">
              <a:solidFill>
                <a:srgbClr val="0F172A"/>
              </a:solidFill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064000" y="11684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4064000" y="1168400"/>
            <a:ext cx="63600" cy="838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216400" y="12446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</a:rPr>
              <a:t>DECENTRALIZED ROUTING</a:t>
            </a:r>
            <a:endParaRPr b="1" sz="10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firefighter acts as an active wireless relay node.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064000" y="21082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064000" y="2108200"/>
            <a:ext cx="63600" cy="838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216400" y="21844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5722"/>
                </a:solidFill>
              </a:rPr>
              <a:t>SELF-HEALING TOPOLOGY</a:t>
            </a:r>
            <a:endParaRPr b="1" sz="10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Node 2 drops, network auto-reroutes packets instantly.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4064000" y="30480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064000" y="3048000"/>
            <a:ext cx="63600" cy="838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4216400" y="31242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366F1"/>
                </a:solidFill>
              </a:rPr>
              <a:t>ZERO INFRASTRUCTURE</a:t>
            </a:r>
            <a:endParaRPr b="1" sz="10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independent of cell towers, routers, or internet.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10/13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HARDWARE DEPLOYMENT &amp; THERMAL SHIELDING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Physical Node Allocation &amp; Ruggedized Reliability Engineering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HELMET NODE ALLOCATION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Primary Lead Helmet: Arduino Nano ESP32 + MPU6050 + BMP280 + DHT11 + MAX9814 + 3x Ultrasonics + SX1278 LoRa.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Secondary Relay Helmet: ESP32 + MQ Gas + MPU6050 + 0.96" OLED HUD + LiFePO4 battery with TP4056 + SX1278 LoRa.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Surface Base Station: ESP32-C3 Gateway connected over USB Serial to Laptop.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46609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PROTECTIVE SHIELDING &amp; ACCESSORIES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Radiant Heat Shielding: Electronics housed in ABS wrapped in aluminum HVAC tape &amp; RTV silicone (315°C / 600°F rated).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Tactical Audio &amp; Haptic Interface: Zero-latency voice alerts &amp; vibration direction pulses.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Safety Fail-safes: Physical harness Mayday button + Smart Chock door wedge relay nodes.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11/13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SOFTWARE: MLOPS PIPELINE &amp; DISTILLATION WORKFLOW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Open-Source Model Compression Lifecycle for Edge Deployment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3175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317500" y="1168400"/>
            <a:ext cx="20319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3937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STEP 01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Teacher Distillation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500 telemetry rows to Llama 3.3 70B via NVIDIA NIM API for ≤8-word labels.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24511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2451100" y="1168400"/>
            <a:ext cx="20319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25273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STEP 02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Dataset Audit Filter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Scrubbing training_data.json to purge hallucinations, long essays, and broken tokens.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45847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584700" y="1168400"/>
            <a:ext cx="20319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6609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STEP 03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QLoRA Fine-Tuning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Fine-tuning Meta Llama 3.2 1B on Colab (Unsloth 4-bit, r=16, alpha=16).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67183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6718300" y="1168400"/>
            <a:ext cx="2031900" cy="63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67945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F4444"/>
                </a:solidFill>
              </a:rPr>
              <a:t>STEP 04</a:t>
            </a:r>
            <a:endParaRPr b="1" sz="8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GGUF Quantization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Q4_K_M GGUF (~700 MB) for local CPU serving via Ollama.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12/13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SOFTWARE: CURRENT IMPLEMENTATION &amp; GATEWAY ENGINE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Data Preparation, Feature Extraction &amp; Serial Gateway Pipeline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DATA PREPARATION &amp; DISTILLATION IN PROGRESS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Ingested Public Fire &amp; Gas Datasets: Loading Kaggle Smoke Detection &amp; NIST Room Flashover calorimetry logs into pandas.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Feature Engineering (ΔT/Δt): Computing thermal rate-of-rise derivatives across time-series rows and injecting synthetic fall/impact spikes (3G–8G).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Active Teacher Distillation: Prompting Llama 3.3 70B via NVIDIA NIM to generate ultra-short (≤ 8 words) tactical safety commands.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4572000" y="14097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366F1"/>
                </a:solidFill>
              </a:rPr>
              <a:t>OFFLINE GATEWAY &amp; BLACKBOX PIPELINE</a:t>
            </a:r>
            <a:endParaRPr b="1" sz="11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USB Serial Listener (pyserial): Real-time binding to laptop COM port to ingest raw telemetry packets coming from ESP32 mesh base station.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Local CPU AI Serving: Asynchronous routing of telemetry to local Ollama API (Llama 3.2 1B GGUF) for sub-200ms voice alert generation.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SHA-256 Cryptographic Blackbox: Local line-by-line hashing on MicroSD cards for post-incident forensic audits.</a:t>
            </a:r>
            <a:endParaRPr/>
          </a:p>
        </p:txBody>
      </p:sp>
      <p:pic>
        <p:nvPicPr>
          <p:cNvPr id="264" name="Google Shape;2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13/13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ROADMAP: INTELLECTUAL PROPERTY &amp; EXPANSION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Patenting Strategy &amp; Commercialization Milestones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PATENTABLE CLAIMS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Dual-Band Hybrid Mesh Switching Logic: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Seamless dynamic routing between 2.4 GHz ESP-NOW local clusters and 433 MHz Sub-GHz LoRa long-haul links.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Sensor-Telemetry-to-LLM Prompt Pipeline: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Context-weighted multi-sensor normalization for real-time local quantized LLM inference.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46609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ECOSYSTEM MILESTONES &amp; PHASES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1 (Active): MSME Grant (Round 2 Qualified) | AI Buildathon (Round 1 Ongoing) | CMRIT Social (Finals).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2: IP67 Field Sealing &amp; Live Burn Facility Testing.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3: Field Pilot Deployments with Emergency Response Services &amp; Industrial Safety Partners.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